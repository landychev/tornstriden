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
  </p:notesMasterIdLst>
  <p:sldIdLst>
    <p:sldId id="273" r:id="rId2"/>
    <p:sldId id="274" r:id="rId3"/>
    <p:sldId id="275" r:id="rId4"/>
  </p:sldIdLst>
  <p:sldSz cx="15240000" cy="8572500"/>
  <p:notesSz cx="6858000" cy="9144000"/>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3"/>
  </p:normalViewPr>
  <p:slideViewPr>
    <p:cSldViewPr snapToGrid="0">
      <p:cViewPr varScale="1">
        <p:scale>
          <a:sx n="94" d="100"/>
          <a:sy n="94" d="100"/>
        </p:scale>
        <p:origin x="568" y="2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38DB4E4-C10D-BE09-21F0-5C739BF306A1}"/>
              </a:ext>
            </a:extLst>
          </p:cNvPr>
          <p:cNvSpPr txBox="1">
            <a:spLocks noGrp="1"/>
          </p:cNvSpPr>
          <p:nvPr>
            <p:ph type="hdr" sz="quarter"/>
          </p:nvPr>
        </p:nvSpPr>
        <p:spPr>
          <a:xfrm>
            <a:off x="0" y="0"/>
            <a:ext cx="2971800" cy="458791"/>
          </a:xfrm>
          <a:prstGeom prst="rect">
            <a:avLst/>
          </a:prstGeom>
          <a:noFill/>
          <a:ln>
            <a:noFill/>
          </a:ln>
        </p:spPr>
        <p:txBody>
          <a:bodyPr vert="horz" wrap="square" lIns="91440" tIns="45720" rIns="91440" bIns="45720" anchor="t" anchorCtr="0" compatLnSpc="1">
            <a:noAutofit/>
          </a:bodyPr>
          <a:lstStyle>
            <a:lvl1pPr marL="0" marR="0" lvl="0"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1pPr>
          </a:lstStyle>
          <a:p>
            <a:pPr lvl="0"/>
            <a:endParaRPr lang="en-US"/>
          </a:p>
        </p:txBody>
      </p:sp>
      <p:sp>
        <p:nvSpPr>
          <p:cNvPr id="3" name="Date Placeholder 2">
            <a:extLst>
              <a:ext uri="{FF2B5EF4-FFF2-40B4-BE49-F238E27FC236}">
                <a16:creationId xmlns:a16="http://schemas.microsoft.com/office/drawing/2014/main" id="{200DE0BA-37BA-1050-3708-C2FFA8F9F21F}"/>
              </a:ext>
            </a:extLst>
          </p:cNvPr>
          <p:cNvSpPr txBox="1">
            <a:spLocks noGrp="1"/>
          </p:cNvSpPr>
          <p:nvPr>
            <p:ph type="dt" idx="1"/>
          </p:nvPr>
        </p:nvSpPr>
        <p:spPr>
          <a:xfrm>
            <a:off x="3884608" y="0"/>
            <a:ext cx="2971800" cy="458791"/>
          </a:xfrm>
          <a:prstGeom prst="rect">
            <a:avLst/>
          </a:prstGeom>
          <a:noFill/>
          <a:ln>
            <a:noFill/>
          </a:ln>
        </p:spPr>
        <p:txBody>
          <a:bodyPr vert="horz" wrap="square" lIns="91440" tIns="45720" rIns="91440" bIns="45720" anchor="t" anchorCtr="0" compatLnSpc="1">
            <a:noAutofit/>
          </a:bodyPr>
          <a:lstStyle>
            <a:lvl1pPr marL="0" marR="0" lvl="0" indent="0" algn="r" defTabSz="914400" rtl="0" fontAlgn="auto" hangingPunct="1">
              <a:lnSpc>
                <a:spcPct val="100000"/>
              </a:lnSpc>
              <a:spcBef>
                <a:spcPts val="0"/>
              </a:spcBef>
              <a:spcAft>
                <a:spcPts val="0"/>
              </a:spcAft>
              <a:buNone/>
              <a:tabLst/>
              <a:defRPr lang="sv-SE" sz="1200" b="0" i="0" u="none" strike="noStrike" kern="1200" cap="none" spc="0" baseline="0">
                <a:solidFill>
                  <a:srgbClr val="000000"/>
                </a:solidFill>
                <a:uFillTx/>
                <a:latin typeface="Calibri"/>
              </a:defRPr>
            </a:lvl1pPr>
          </a:lstStyle>
          <a:p>
            <a:pPr lvl="0"/>
            <a:fld id="{F7643038-4820-7547-A632-5317E907BE61}" type="datetime1">
              <a:rPr lang="sv-SE"/>
              <a:pPr lvl="0"/>
              <a:t>10/7/26</a:t>
            </a:fld>
            <a:endParaRPr lang="sv-SE"/>
          </a:p>
        </p:txBody>
      </p:sp>
      <p:sp>
        <p:nvSpPr>
          <p:cNvPr id="4" name="Slide Image Placeholder 3">
            <a:extLst>
              <a:ext uri="{FF2B5EF4-FFF2-40B4-BE49-F238E27FC236}">
                <a16:creationId xmlns:a16="http://schemas.microsoft.com/office/drawing/2014/main" id="{01DE36B9-55EF-8C27-AC5A-AC5546B28BFB}"/>
              </a:ext>
            </a:extLst>
          </p:cNvPr>
          <p:cNvSpPr>
            <a:spLocks noGrp="1" noRot="1" noChangeAspect="1"/>
          </p:cNvSpPr>
          <p:nvPr>
            <p:ph type="sldImg" idx="2"/>
          </p:nvPr>
        </p:nvSpPr>
        <p:spPr>
          <a:xfrm>
            <a:off x="685800" y="1143000"/>
            <a:ext cx="5486400" cy="3086099"/>
          </a:xfrm>
          <a:prstGeom prst="rect">
            <a:avLst/>
          </a:prstGeom>
          <a:noFill/>
          <a:ln w="12701">
            <a:solidFill>
              <a:srgbClr val="000000"/>
            </a:solidFill>
            <a:prstDash val="solid"/>
          </a:ln>
        </p:spPr>
      </p:sp>
      <p:sp>
        <p:nvSpPr>
          <p:cNvPr id="5" name="Notes Placeholder 4">
            <a:extLst>
              <a:ext uri="{FF2B5EF4-FFF2-40B4-BE49-F238E27FC236}">
                <a16:creationId xmlns:a16="http://schemas.microsoft.com/office/drawing/2014/main" id="{24A3F302-4987-B81F-77F5-2D26B9E1FAE2}"/>
              </a:ext>
            </a:extLst>
          </p:cNvPr>
          <p:cNvSpPr txBox="1">
            <a:spLocks noGrp="1"/>
          </p:cNvSpPr>
          <p:nvPr>
            <p:ph type="body" sz="quarter" idx="3"/>
          </p:nvPr>
        </p:nvSpPr>
        <p:spPr>
          <a:xfrm>
            <a:off x="685800" y="4400549"/>
            <a:ext cx="5486400" cy="3600450"/>
          </a:xfrm>
          <a:prstGeom prst="rect">
            <a:avLst/>
          </a:prstGeom>
          <a:noFill/>
          <a:ln>
            <a:noFill/>
          </a:ln>
        </p:spPr>
        <p:txBody>
          <a:bodyPr vert="horz" wrap="square" lIns="91440" tIns="45720" rIns="91440" bIns="45720" anchor="t" anchorCtr="0" compatLnSpc="1">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59C68AD8-0043-B53B-73E6-CA5887332ABF}"/>
              </a:ext>
            </a:extLst>
          </p:cNvPr>
          <p:cNvSpPr txBox="1">
            <a:spLocks noGrp="1"/>
          </p:cNvSpPr>
          <p:nvPr>
            <p:ph type="ftr" sz="quarter" idx="4"/>
          </p:nvPr>
        </p:nvSpPr>
        <p:spPr>
          <a:xfrm>
            <a:off x="0" y="8685208"/>
            <a:ext cx="2971800" cy="458791"/>
          </a:xfrm>
          <a:prstGeom prst="rect">
            <a:avLst/>
          </a:prstGeom>
          <a:noFill/>
          <a:ln>
            <a:noFill/>
          </a:ln>
        </p:spPr>
        <p:txBody>
          <a:bodyPr vert="horz" wrap="square" lIns="91440" tIns="45720" rIns="91440" bIns="45720" anchor="b" anchorCtr="0" compatLnSpc="1">
            <a:noAutofit/>
          </a:bodyPr>
          <a:lstStyle>
            <a:lvl1pPr marL="0" marR="0" lvl="0"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1pPr>
          </a:lstStyle>
          <a:p>
            <a:pPr lvl="0"/>
            <a:endParaRPr lang="en-US"/>
          </a:p>
        </p:txBody>
      </p:sp>
      <p:sp>
        <p:nvSpPr>
          <p:cNvPr id="7" name="Slide Number Placeholder 6">
            <a:extLst>
              <a:ext uri="{FF2B5EF4-FFF2-40B4-BE49-F238E27FC236}">
                <a16:creationId xmlns:a16="http://schemas.microsoft.com/office/drawing/2014/main" id="{5D5CE6BE-3D1A-B451-8E96-AB606F6C0E93}"/>
              </a:ext>
            </a:extLst>
          </p:cNvPr>
          <p:cNvSpPr txBox="1">
            <a:spLocks noGrp="1"/>
          </p:cNvSpPr>
          <p:nvPr>
            <p:ph type="sldNum" sz="quarter" idx="5"/>
          </p:nvPr>
        </p:nvSpPr>
        <p:spPr>
          <a:xfrm>
            <a:off x="3884608" y="8685208"/>
            <a:ext cx="2971800" cy="458791"/>
          </a:xfrm>
          <a:prstGeom prst="rect">
            <a:avLst/>
          </a:prstGeom>
          <a:noFill/>
          <a:ln>
            <a:noFill/>
          </a:ln>
        </p:spPr>
        <p:txBody>
          <a:bodyPr vert="horz" wrap="square" lIns="91440" tIns="45720" rIns="91440" bIns="45720" anchor="b" anchorCtr="0" compatLnSpc="1">
            <a:noAutofit/>
          </a:bodyPr>
          <a:lstStyle>
            <a:lvl1pPr marL="0" marR="0" lvl="0" indent="0" algn="r" defTabSz="914400" rtl="0" fontAlgn="auto" hangingPunct="1">
              <a:lnSpc>
                <a:spcPct val="100000"/>
              </a:lnSpc>
              <a:spcBef>
                <a:spcPts val="0"/>
              </a:spcBef>
              <a:spcAft>
                <a:spcPts val="0"/>
              </a:spcAft>
              <a:buNone/>
              <a:tabLst/>
              <a:defRPr lang="sv-SE" sz="1200" b="0" i="0" u="none" strike="noStrike" kern="1200" cap="none" spc="0" baseline="0">
                <a:solidFill>
                  <a:srgbClr val="000000"/>
                </a:solidFill>
                <a:uFillTx/>
                <a:latin typeface="Calibri"/>
              </a:defRPr>
            </a:lvl1pPr>
          </a:lstStyle>
          <a:p>
            <a:pPr lvl="0"/>
            <a:fld id="{F157CDEF-BF11-7E40-97B3-9DBE2EA29CEA}" type="slidenum">
              <a:t>‹#›</a:t>
            </a:fld>
            <a:endParaRPr lang="sv-SE"/>
          </a:p>
        </p:txBody>
      </p:sp>
    </p:spTree>
    <p:extLst>
      <p:ext uri="{BB962C8B-B14F-4D97-AF65-F5344CB8AC3E}">
        <p14:creationId xmlns:p14="http://schemas.microsoft.com/office/powerpoint/2010/main" val="3109861810"/>
      </p:ext>
    </p:extLst>
  </p:cSld>
  <p:clrMap bg1="lt1" tx1="dk1" bg2="lt2" tx2="dk2" accent1="accent1" accent2="accent2" accent3="accent3" accent4="accent4" accent5="accent5" accent6="accent6" hlink="hlink" folHlink="folHlink"/>
  <p:notesStyle>
    <a:lvl1pPr marL="0" marR="0" lvl="0"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1pPr>
    <a:lvl2pPr marL="457200" marR="0" lvl="1"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2pPr>
    <a:lvl3pPr marL="914400" marR="0" lvl="2"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3pPr>
    <a:lvl4pPr marL="1371600" marR="0" lvl="3"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4pPr>
    <a:lvl5pPr marL="1828800" marR="0" lvl="4"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FC4E35-5CE6-DB65-8C8A-9A5B9D4A38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1CE874-5454-0437-5E7B-8B250012BA9A}"/>
              </a:ext>
            </a:extLst>
          </p:cNvPr>
          <p:cNvSpPr txBox="1">
            <a:spLocks noGrp="1"/>
          </p:cNvSpPr>
          <p:nvPr>
            <p:ph type="body" sz="quarter" idx="1"/>
          </p:nvPr>
        </p:nvSpPr>
        <p:spPr/>
        <p:txBody>
          <a:bodyPr/>
          <a:lstStyle/>
          <a:p>
            <a:pPr lvl="0"/>
            <a:r>
              <a:rPr lang="sv-SE"/>
              <a:t>Arbeta direkt i de vita fälten. Lägg till text, former eller ritade anteckningar. Gruppens fyra arbetsbilder hör ihop.</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3C08C4-6A48-C943-869A-5D0E3D5655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68589E-7197-3F25-BF31-4BE7D97A2F42}"/>
              </a:ext>
            </a:extLst>
          </p:cNvPr>
          <p:cNvSpPr txBox="1">
            <a:spLocks noGrp="1"/>
          </p:cNvSpPr>
          <p:nvPr>
            <p:ph type="body" sz="quarter" idx="1"/>
          </p:nvPr>
        </p:nvSpPr>
        <p:spPr/>
        <p:txBody>
          <a:bodyPr/>
          <a:lstStyle/>
          <a:p>
            <a:endParaRPr lang="sv-S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7F0503-AAD7-D472-D01D-ED2382C081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87D77E-4FC8-A75A-7BDC-A12165C317CA}"/>
              </a:ext>
            </a:extLst>
          </p:cNvPr>
          <p:cNvSpPr txBox="1">
            <a:spLocks noGrp="1"/>
          </p:cNvSpPr>
          <p:nvPr>
            <p:ph type="body" sz="quarter" idx="1"/>
          </p:nvPr>
        </p:nvSpPr>
        <p:spPr/>
        <p:txBody>
          <a:bodyPr/>
          <a:lstStyle/>
          <a:p>
            <a:endParaRPr lang="sv-S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137166645"/>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18">
    <p:bg>
      <p:bgPr>
        <a:solidFill>
          <a:srgbClr val="F7F8F4"/>
        </a:solidFill>
        <a:effectLst/>
      </p:bgPr>
    </p:bg>
    <p:spTree>
      <p:nvGrpSpPr>
        <p:cNvPr id="1" name=""/>
        <p:cNvGrpSpPr/>
        <p:nvPr/>
      </p:nvGrpSpPr>
      <p:grpSpPr>
        <a:xfrm>
          <a:off x="0" y="0"/>
          <a:ext cx="0" cy="0"/>
          <a:chOff x="0" y="0"/>
          <a:chExt cx="0" cy="0"/>
        </a:xfrm>
      </p:grpSpPr>
      <p:sp>
        <p:nvSpPr>
          <p:cNvPr id="2" name="Rectangle 18">
            <a:extLst>
              <a:ext uri="{FF2B5EF4-FFF2-40B4-BE49-F238E27FC236}">
                <a16:creationId xmlns:a16="http://schemas.microsoft.com/office/drawing/2014/main" id="{97B12068-1F16-23B0-BE79-82993A933792}"/>
              </a:ext>
            </a:extLst>
          </p:cNvPr>
          <p:cNvSpPr/>
          <p:nvPr/>
        </p:nvSpPr>
        <p:spPr>
          <a:xfrm>
            <a:off x="0" y="0"/>
            <a:ext cx="15240003" cy="95253"/>
          </a:xfrm>
          <a:prstGeom prst="rect">
            <a:avLst/>
          </a:prstGeom>
          <a:solidFill>
            <a:srgbClr val="79549E"/>
          </a:solidFill>
          <a:ln w="14292" cap="flat">
            <a:solidFill>
              <a:srgbClr val="79549E"/>
            </a:solidFill>
            <a:prstDash val="solid"/>
            <a:miter/>
          </a:ln>
        </p:spPr>
        <p:txBody>
          <a:bodyPr lIns="0" tIns="0" rIns="0" bIns="0"/>
          <a:lstStyle/>
          <a:p>
            <a:endParaRPr lang="sv-SE"/>
          </a:p>
        </p:txBody>
      </p:sp>
      <p:sp>
        <p:nvSpPr>
          <p:cNvPr id="3" name="GRUPP 4 – ARBETSYTA">
            <a:extLst>
              <a:ext uri="{FF2B5EF4-FFF2-40B4-BE49-F238E27FC236}">
                <a16:creationId xmlns:a16="http://schemas.microsoft.com/office/drawing/2014/main" id="{5F004348-0D3F-4670-BB44-EF2328EC88DA}"/>
              </a:ext>
            </a:extLst>
          </p:cNvPr>
          <p:cNvSpPr/>
          <p:nvPr/>
        </p:nvSpPr>
        <p:spPr>
          <a:xfrm>
            <a:off x="457200" y="295278"/>
            <a:ext cx="13525503" cy="304796"/>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650" b="1" i="0" u="none" strike="noStrike" kern="0" cap="none" spc="0" baseline="0">
                <a:solidFill>
                  <a:srgbClr val="79549E"/>
                </a:solidFill>
                <a:uFillTx/>
                <a:latin typeface="DejaVu Sans"/>
                <a:ea typeface="DejaVu Sans"/>
                <a:cs typeface="DejaVu Sans"/>
              </a:defRPr>
            </a:pPr>
            <a:r>
              <a:rPr lang="sv-SE" sz="1650" b="1" i="0" u="none" strike="noStrike" kern="1200" cap="none" spc="0" baseline="0">
                <a:solidFill>
                  <a:srgbClr val="79549E"/>
                </a:solidFill>
                <a:uFillTx/>
                <a:latin typeface="DejaVu Sans"/>
                <a:ea typeface="DejaVu Sans"/>
                <a:cs typeface="DejaVu Sans"/>
              </a:rPr>
              <a:t>GRUPP 4 – ARBETSYTA</a:t>
            </a:r>
          </a:p>
        </p:txBody>
      </p:sp>
      <p:sp>
        <p:nvSpPr>
          <p:cNvPr id="4" name="SPELIDÉ">
            <a:extLst>
              <a:ext uri="{FF2B5EF4-FFF2-40B4-BE49-F238E27FC236}">
                <a16:creationId xmlns:a16="http://schemas.microsoft.com/office/drawing/2014/main" id="{A18C919B-0E5B-AAA3-7A92-63458F87571E}"/>
              </a:ext>
            </a:extLst>
          </p:cNvPr>
          <p:cNvSpPr/>
          <p:nvPr/>
        </p:nvSpPr>
        <p:spPr>
          <a:xfrm>
            <a:off x="457200" y="781053"/>
            <a:ext cx="14325603" cy="704846"/>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3600" b="1" i="0" u="none" strike="noStrike" kern="0" cap="none" spc="0" baseline="0">
                <a:solidFill>
                  <a:srgbClr val="192C31"/>
                </a:solidFill>
                <a:uFillTx/>
                <a:latin typeface="DejaVu Sans"/>
                <a:ea typeface="DejaVu Sans"/>
                <a:cs typeface="DejaVu Sans"/>
              </a:defRPr>
            </a:pPr>
            <a:r>
              <a:rPr lang="sv-SE" sz="3600" b="1" i="0" u="none" strike="noStrike" kern="1200" cap="none" spc="0" baseline="0">
                <a:solidFill>
                  <a:srgbClr val="192C31"/>
                </a:solidFill>
                <a:uFillTx/>
                <a:latin typeface="DejaVu Sans"/>
                <a:ea typeface="DejaVu Sans"/>
                <a:cs typeface="DejaVu Sans"/>
              </a:rPr>
              <a:t>SPELIDÉ</a:t>
            </a:r>
          </a:p>
        </p:txBody>
      </p:sp>
      <p:sp>
        <p:nvSpPr>
          <p:cNvPr id="5" name="A  SPELIDÉ     →     B  SYSTEM     →     C  KORT     →     D">
            <a:extLst>
              <a:ext uri="{FF2B5EF4-FFF2-40B4-BE49-F238E27FC236}">
                <a16:creationId xmlns:a16="http://schemas.microsoft.com/office/drawing/2014/main" id="{910E3A7B-45B5-7E94-5A48-67DC2611EB73}"/>
              </a:ext>
            </a:extLst>
          </p:cNvPr>
          <p:cNvSpPr/>
          <p:nvPr/>
        </p:nvSpPr>
        <p:spPr>
          <a:xfrm>
            <a:off x="457200" y="8162921"/>
            <a:ext cx="13525503" cy="257175"/>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350" b="0" i="0" u="none" strike="noStrike" kern="0" cap="none" spc="0" baseline="0">
                <a:solidFill>
                  <a:srgbClr val="58686A"/>
                </a:solidFill>
                <a:uFillTx/>
                <a:latin typeface="DejaVu Sans"/>
                <a:ea typeface="DejaVu Sans"/>
                <a:cs typeface="DejaVu Sans"/>
              </a:defRPr>
            </a:pPr>
            <a:r>
              <a:rPr lang="sv-SE" sz="1350" b="0" i="0" u="none" strike="noStrike" kern="1200" cap="none" spc="0" baseline="0">
                <a:solidFill>
                  <a:srgbClr val="58686A"/>
                </a:solidFill>
                <a:uFillTx/>
                <a:latin typeface="DejaVu Sans"/>
                <a:ea typeface="DejaVu Sans"/>
                <a:cs typeface="DejaVu Sans"/>
              </a:rPr>
              <a:t>A  SPELIDÉ     →     B  SYSTEM     →     C  KORT     →     D  PLAYTEST</a:t>
            </a:r>
          </a:p>
        </p:txBody>
      </p:sp>
      <p:sp>
        <p:nvSpPr>
          <p:cNvPr id="6" name="18">
            <a:extLst>
              <a:ext uri="{FF2B5EF4-FFF2-40B4-BE49-F238E27FC236}">
                <a16:creationId xmlns:a16="http://schemas.microsoft.com/office/drawing/2014/main" id="{B7D2F893-9C38-3379-BDCA-F64E4E70DBCE}"/>
              </a:ext>
            </a:extLst>
          </p:cNvPr>
          <p:cNvSpPr/>
          <p:nvPr/>
        </p:nvSpPr>
        <p:spPr>
          <a:xfrm>
            <a:off x="14192246" y="8096253"/>
            <a:ext cx="571500" cy="333371"/>
          </a:xfrm>
          <a:prstGeom prst="rect">
            <a:avLst/>
          </a:prstGeom>
          <a:noFill/>
          <a:ln cap="flat">
            <a:noFill/>
            <a:prstDash val="solid"/>
          </a:ln>
        </p:spPr>
        <p:txBody>
          <a:bodyPr vert="horz" wrap="square" lIns="0" tIns="0" rIns="0" bIns="0" anchor="t" anchorCtr="0" compatLnSpc="1">
            <a:noAutofit/>
          </a:bodyPr>
          <a:lstStyle/>
          <a:p>
            <a:pPr marL="0" marR="0" lvl="0" indent="0" algn="r" defTabSz="914400" rtl="0" fontAlgn="auto" hangingPunct="1">
              <a:lnSpc>
                <a:spcPct val="100000"/>
              </a:lnSpc>
              <a:spcBef>
                <a:spcPts val="0"/>
              </a:spcBef>
              <a:spcAft>
                <a:spcPts val="0"/>
              </a:spcAft>
              <a:buNone/>
              <a:tabLst/>
              <a:defRPr sz="1650" b="1" i="0" u="none" strike="noStrike" kern="0" cap="none" spc="0" baseline="0">
                <a:solidFill>
                  <a:srgbClr val="79549E"/>
                </a:solidFill>
                <a:uFillTx/>
                <a:latin typeface="DejaVu Sans"/>
                <a:ea typeface="DejaVu Sans"/>
                <a:cs typeface="DejaVu Sans"/>
              </a:defRPr>
            </a:pPr>
            <a:r>
              <a:rPr lang="sv-SE" sz="1650" b="1" i="0" u="none" strike="noStrike" kern="1200" cap="none" spc="0" baseline="0">
                <a:solidFill>
                  <a:srgbClr val="79549E"/>
                </a:solidFill>
                <a:uFillTx/>
                <a:latin typeface="DejaVu Sans"/>
                <a:ea typeface="DejaVu Sans"/>
                <a:cs typeface="DejaVu Sans"/>
              </a:rPr>
              <a:t>18</a:t>
            </a:r>
          </a:p>
        </p:txBody>
      </p:sp>
      <p:sp>
        <p:nvSpPr>
          <p:cNvPr id="7" name="SPELETS NAMN">
            <a:extLst>
              <a:ext uri="{FF2B5EF4-FFF2-40B4-BE49-F238E27FC236}">
                <a16:creationId xmlns:a16="http://schemas.microsoft.com/office/drawing/2014/main" id="{25E1CB70-52DD-3C20-7984-65494D625847}"/>
              </a:ext>
            </a:extLst>
          </p:cNvPr>
          <p:cNvSpPr/>
          <p:nvPr/>
        </p:nvSpPr>
        <p:spPr>
          <a:xfrm>
            <a:off x="457200" y="1724028"/>
            <a:ext cx="6972299" cy="400050"/>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725" b="1" i="0" u="none" strike="noStrike" kern="0" cap="none" spc="0" baseline="0">
                <a:solidFill>
                  <a:srgbClr val="79549E"/>
                </a:solidFill>
                <a:uFillTx/>
                <a:latin typeface="DejaVu Sans"/>
                <a:ea typeface="DejaVu Sans"/>
                <a:cs typeface="DejaVu Sans"/>
              </a:defRPr>
            </a:pPr>
            <a:r>
              <a:rPr lang="sv-SE" sz="1725" b="1" i="0" u="none" strike="noStrike" kern="1200" cap="none" spc="0" baseline="0">
                <a:solidFill>
                  <a:srgbClr val="79549E"/>
                </a:solidFill>
                <a:uFillTx/>
                <a:latin typeface="DejaVu Sans"/>
                <a:ea typeface="DejaVu Sans"/>
                <a:cs typeface="DejaVu Sans"/>
              </a:rPr>
              <a:t>SPELETS NAMN</a:t>
            </a:r>
          </a:p>
        </p:txBody>
      </p:sp>
      <p:sp>
        <p:nvSpPr>
          <p:cNvPr id="8" name="SPELETS NAMN – skriv här">
            <a:extLst>
              <a:ext uri="{FF2B5EF4-FFF2-40B4-BE49-F238E27FC236}">
                <a16:creationId xmlns:a16="http://schemas.microsoft.com/office/drawing/2014/main" id="{4FBF7B59-2334-3FF0-7511-7DA5F1F5F438}"/>
              </a:ext>
            </a:extLst>
          </p:cNvPr>
          <p:cNvSpPr/>
          <p:nvPr/>
        </p:nvSpPr>
        <p:spPr>
          <a:xfrm>
            <a:off x="457200" y="2124078"/>
            <a:ext cx="6972299" cy="1466853"/>
          </a:xfrm>
          <a:prstGeom prst="rect">
            <a:avLst/>
          </a:prstGeom>
          <a:solidFill>
            <a:srgbClr val="FFFFFF"/>
          </a:solidFill>
          <a:ln w="14292" cap="flat">
            <a:solidFill>
              <a:srgbClr val="CBD2CF"/>
            </a:solidFill>
            <a:prstDash val="solid"/>
            <a:miter/>
          </a:ln>
        </p:spPr>
        <p:txBody>
          <a:bodyPr vert="horz" wrap="square" lIns="152403" tIns="114300" rIns="152403" bIns="114300" anchor="t" anchorCtr="0" compatLnSpc="1">
            <a:noAutofit/>
          </a:bodyPr>
          <a:lstStyle/>
          <a:p>
            <a:pPr marL="0" marR="0" lvl="0" indent="0" algn="l" defTabSz="914400" rtl="0" fontAlgn="auto" hangingPunct="1">
              <a:lnSpc>
                <a:spcPct val="100000"/>
              </a:lnSpc>
              <a:spcBef>
                <a:spcPts val="0"/>
              </a:spcBef>
              <a:spcAft>
                <a:spcPts val="0"/>
              </a:spcAft>
              <a:buNone/>
              <a:tabLst/>
              <a:defRPr sz="2100" b="0" i="0" u="none" strike="noStrike" kern="0" cap="none" spc="0" baseline="0">
                <a:solidFill>
                  <a:srgbClr val="192C31"/>
                </a:solidFill>
                <a:uFillTx/>
                <a:latin typeface="DejaVu Sans"/>
                <a:ea typeface="DejaVu Sans"/>
                <a:cs typeface="DejaVu Sans"/>
              </a:defRPr>
            </a:pPr>
            <a:r>
              <a:rPr lang="sv-SE" sz="2100" b="0" i="0" u="none" strike="noStrike" kern="1200" cap="none" spc="0" baseline="0">
                <a:solidFill>
                  <a:srgbClr val="192C31"/>
                </a:solidFill>
                <a:uFillTx/>
                <a:latin typeface="DejaVu Sans"/>
                <a:ea typeface="DejaVu Sans"/>
                <a:cs typeface="DejaVu Sans"/>
              </a:rPr>
              <a:t> </a:t>
            </a:r>
            <a:r>
              <a:rPr lang="sv-SE" sz="6000" b="0" i="0" u="none" strike="noStrike" kern="1200" cap="none" spc="0" baseline="0">
                <a:solidFill>
                  <a:srgbClr val="192C31"/>
                </a:solidFill>
                <a:uFillTx/>
                <a:latin typeface="DejaVu Sans"/>
                <a:ea typeface="DejaVu Sans"/>
                <a:cs typeface="DejaVu Sans"/>
              </a:rPr>
              <a:t>Tornstriden</a:t>
            </a:r>
          </a:p>
        </p:txBody>
      </p:sp>
      <p:sp>
        <p:nvSpPr>
          <p:cNvPr id="9" name="SPELTYP">
            <a:extLst>
              <a:ext uri="{FF2B5EF4-FFF2-40B4-BE49-F238E27FC236}">
                <a16:creationId xmlns:a16="http://schemas.microsoft.com/office/drawing/2014/main" id="{E9E9C1C2-7FE1-A102-FB97-5E660F9AC708}"/>
              </a:ext>
            </a:extLst>
          </p:cNvPr>
          <p:cNvSpPr/>
          <p:nvPr/>
        </p:nvSpPr>
        <p:spPr>
          <a:xfrm>
            <a:off x="7810503" y="1724028"/>
            <a:ext cx="6972299" cy="400050"/>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725" b="1" i="0" u="none" strike="noStrike" kern="0" cap="none" spc="0" baseline="0">
                <a:solidFill>
                  <a:srgbClr val="79549E"/>
                </a:solidFill>
                <a:uFillTx/>
                <a:latin typeface="DejaVu Sans"/>
                <a:ea typeface="DejaVu Sans"/>
                <a:cs typeface="DejaVu Sans"/>
              </a:defRPr>
            </a:pPr>
            <a:r>
              <a:rPr lang="sv-SE" sz="1725" b="1" i="0" u="none" strike="noStrike" kern="1200" cap="none" spc="0" baseline="0">
                <a:solidFill>
                  <a:srgbClr val="79549E"/>
                </a:solidFill>
                <a:uFillTx/>
                <a:latin typeface="DejaVu Sans"/>
                <a:ea typeface="DejaVu Sans"/>
                <a:cs typeface="DejaVu Sans"/>
              </a:rPr>
              <a:t>SPELTYP</a:t>
            </a:r>
          </a:p>
        </p:txBody>
      </p:sp>
      <p:sp>
        <p:nvSpPr>
          <p:cNvPr id="10" name="SPELTYP – skriv här">
            <a:extLst>
              <a:ext uri="{FF2B5EF4-FFF2-40B4-BE49-F238E27FC236}">
                <a16:creationId xmlns:a16="http://schemas.microsoft.com/office/drawing/2014/main" id="{08F05BB6-7594-B0D1-0B97-17FF20DB5E95}"/>
              </a:ext>
            </a:extLst>
          </p:cNvPr>
          <p:cNvSpPr/>
          <p:nvPr/>
        </p:nvSpPr>
        <p:spPr>
          <a:xfrm>
            <a:off x="7810503" y="2124078"/>
            <a:ext cx="6972299" cy="1466853"/>
          </a:xfrm>
          <a:prstGeom prst="rect">
            <a:avLst/>
          </a:prstGeom>
          <a:solidFill>
            <a:srgbClr val="FFFFFF"/>
          </a:solidFill>
          <a:ln w="14292" cap="flat">
            <a:solidFill>
              <a:srgbClr val="CBD2CF"/>
            </a:solidFill>
            <a:prstDash val="solid"/>
            <a:miter/>
          </a:ln>
        </p:spPr>
        <p:txBody>
          <a:bodyPr vert="horz" wrap="square" lIns="152403" tIns="533396" rIns="152403" bIns="114300" anchor="t" anchorCtr="0" compatLnSpc="1">
            <a:noAutofit/>
          </a:bodyPr>
          <a:lstStyle/>
          <a:p>
            <a:pPr marL="0" marR="0" lvl="0" indent="0" algn="l" defTabSz="914400" rtl="0" fontAlgn="auto" hangingPunct="1">
              <a:lnSpc>
                <a:spcPct val="100000"/>
              </a:lnSpc>
              <a:spcBef>
                <a:spcPts val="0"/>
              </a:spcBef>
              <a:spcAft>
                <a:spcPts val="0"/>
              </a:spcAft>
              <a:buNone/>
              <a:tabLst/>
              <a:defRPr sz="2100" b="0" i="0" u="none" strike="noStrike" kern="0" cap="none" spc="0" baseline="0">
                <a:solidFill>
                  <a:srgbClr val="192C31"/>
                </a:solidFill>
                <a:uFillTx/>
                <a:latin typeface="DejaVu Sans"/>
                <a:ea typeface="DejaVu Sans"/>
                <a:cs typeface="DejaVu Sans"/>
              </a:defRPr>
            </a:pPr>
            <a:r>
              <a:rPr lang="sv-SE" sz="2100" b="0" i="0" u="none" strike="noStrike" kern="1200" cap="none" spc="0" baseline="0">
                <a:solidFill>
                  <a:srgbClr val="192C31"/>
                </a:solidFill>
                <a:uFillTx/>
                <a:latin typeface="DejaVu Sans"/>
                <a:ea typeface="DejaVu Sans"/>
                <a:cs typeface="DejaVu Sans"/>
              </a:rPr>
              <a:t> </a:t>
            </a:r>
            <a:r>
              <a:rPr lang="sv-SE" sz="4400" b="0" i="0" u="none" strike="noStrike" kern="1200" cap="none" spc="0" baseline="0">
                <a:solidFill>
                  <a:srgbClr val="192C31"/>
                </a:solidFill>
                <a:uFillTx/>
                <a:latin typeface="DejaVu Sans"/>
                <a:ea typeface="DejaVu Sans"/>
                <a:cs typeface="DejaVu Sans"/>
              </a:rPr>
              <a:t>Hybrid: Duell, kooperativt</a:t>
            </a:r>
          </a:p>
        </p:txBody>
      </p:sp>
      <p:sp>
        <p:nvSpPr>
          <p:cNvPr id="11" name="Duell / Socialt / Kooperativt / Snabbspel / Hybrid">
            <a:extLst>
              <a:ext uri="{FF2B5EF4-FFF2-40B4-BE49-F238E27FC236}">
                <a16:creationId xmlns:a16="http://schemas.microsoft.com/office/drawing/2014/main" id="{C08E7177-7B1B-EA92-7F04-4E36E60D1910}"/>
              </a:ext>
            </a:extLst>
          </p:cNvPr>
          <p:cNvSpPr/>
          <p:nvPr/>
        </p:nvSpPr>
        <p:spPr>
          <a:xfrm>
            <a:off x="7981953" y="2219321"/>
            <a:ext cx="6591296" cy="342900"/>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500" b="0" i="0" u="none" strike="noStrike" kern="0" cap="none" spc="0" baseline="0">
                <a:solidFill>
                  <a:srgbClr val="58686A"/>
                </a:solidFill>
                <a:uFillTx/>
                <a:latin typeface="DejaVu Sans"/>
                <a:ea typeface="DejaVu Sans"/>
                <a:cs typeface="DejaVu Sans"/>
              </a:defRPr>
            </a:pPr>
            <a:r>
              <a:rPr lang="sv-SE" sz="1500" b="0" i="0" u="none" strike="noStrike" kern="1200" cap="none" spc="0" baseline="0">
                <a:solidFill>
                  <a:srgbClr val="58686A"/>
                </a:solidFill>
                <a:uFillTx/>
                <a:latin typeface="DejaVu Sans"/>
                <a:ea typeface="DejaVu Sans"/>
                <a:cs typeface="DejaVu Sans"/>
              </a:rPr>
              <a:t>Duell / Socialt / Kooperativt / Snabbspel / Hybrid</a:t>
            </a:r>
          </a:p>
        </p:txBody>
      </p:sp>
      <p:sp>
        <p:nvSpPr>
          <p:cNvPr id="12" name="TEMA">
            <a:extLst>
              <a:ext uri="{FF2B5EF4-FFF2-40B4-BE49-F238E27FC236}">
                <a16:creationId xmlns:a16="http://schemas.microsoft.com/office/drawing/2014/main" id="{3C14ABAF-ABEE-CD86-7BC8-F4D784C6D0FE}"/>
              </a:ext>
            </a:extLst>
          </p:cNvPr>
          <p:cNvSpPr/>
          <p:nvPr/>
        </p:nvSpPr>
        <p:spPr>
          <a:xfrm>
            <a:off x="457200" y="3829049"/>
            <a:ext cx="6972299" cy="400050"/>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725" b="1" i="0" u="none" strike="noStrike" kern="0" cap="none" spc="0" baseline="0">
                <a:solidFill>
                  <a:srgbClr val="79549E"/>
                </a:solidFill>
                <a:uFillTx/>
                <a:latin typeface="DejaVu Sans"/>
                <a:ea typeface="DejaVu Sans"/>
                <a:cs typeface="DejaVu Sans"/>
              </a:defRPr>
            </a:pPr>
            <a:r>
              <a:rPr lang="sv-SE" sz="1725" b="1" i="0" u="none" strike="noStrike" kern="1200" cap="none" spc="0" baseline="0">
                <a:solidFill>
                  <a:srgbClr val="79549E"/>
                </a:solidFill>
                <a:uFillTx/>
                <a:latin typeface="DejaVu Sans"/>
                <a:ea typeface="DejaVu Sans"/>
                <a:cs typeface="DejaVu Sans"/>
              </a:rPr>
              <a:t>TEMA</a:t>
            </a:r>
          </a:p>
        </p:txBody>
      </p:sp>
      <p:sp>
        <p:nvSpPr>
          <p:cNvPr id="13" name="TEMA – skriv här">
            <a:extLst>
              <a:ext uri="{FF2B5EF4-FFF2-40B4-BE49-F238E27FC236}">
                <a16:creationId xmlns:a16="http://schemas.microsoft.com/office/drawing/2014/main" id="{8CD39E6F-E193-504C-360A-3FF5C07D9875}"/>
              </a:ext>
            </a:extLst>
          </p:cNvPr>
          <p:cNvSpPr/>
          <p:nvPr/>
        </p:nvSpPr>
        <p:spPr>
          <a:xfrm>
            <a:off x="457200" y="4229099"/>
            <a:ext cx="6972299" cy="1466853"/>
          </a:xfrm>
          <a:prstGeom prst="rect">
            <a:avLst/>
          </a:prstGeom>
          <a:solidFill>
            <a:srgbClr val="FFFFFF"/>
          </a:solidFill>
          <a:ln w="14292" cap="flat">
            <a:solidFill>
              <a:srgbClr val="CBD2CF"/>
            </a:solidFill>
            <a:prstDash val="solid"/>
            <a:miter/>
          </a:ln>
        </p:spPr>
        <p:txBody>
          <a:bodyPr vert="horz" wrap="square" lIns="152403" tIns="114300" rIns="152403" bIns="114300" anchor="t" anchorCtr="0" compatLnSpc="1">
            <a:noAutofit/>
          </a:bodyPr>
          <a:lstStyle/>
          <a:p>
            <a:pPr marL="0" marR="0" lvl="0" indent="0" algn="l" defTabSz="914400" rtl="0" fontAlgn="auto" hangingPunct="1">
              <a:lnSpc>
                <a:spcPct val="100000"/>
              </a:lnSpc>
              <a:spcBef>
                <a:spcPts val="0"/>
              </a:spcBef>
              <a:spcAft>
                <a:spcPts val="0"/>
              </a:spcAft>
              <a:buNone/>
              <a:tabLst/>
              <a:defRPr sz="2100" b="0" i="0" u="none" strike="noStrike" kern="0" cap="none" spc="0" baseline="0">
                <a:solidFill>
                  <a:srgbClr val="192C31"/>
                </a:solidFill>
                <a:uFillTx/>
                <a:latin typeface="DejaVu Sans"/>
                <a:ea typeface="DejaVu Sans"/>
                <a:cs typeface="DejaVu Sans"/>
              </a:defRPr>
            </a:pPr>
            <a:r>
              <a:rPr lang="sv-SE" sz="4800" b="0" i="0" u="none" strike="noStrike" kern="1200" cap="none" spc="0" baseline="0">
                <a:solidFill>
                  <a:srgbClr val="192C31"/>
                </a:solidFill>
                <a:uFillTx/>
                <a:latin typeface="DejaVu Sans"/>
                <a:ea typeface="DejaVu Sans"/>
                <a:cs typeface="DejaVu Sans"/>
              </a:rPr>
              <a:t> Medeltidaborg</a:t>
            </a:r>
          </a:p>
        </p:txBody>
      </p:sp>
      <p:sp>
        <p:nvSpPr>
          <p:cNvPr id="14" name="MÅLET MED SPELET">
            <a:extLst>
              <a:ext uri="{FF2B5EF4-FFF2-40B4-BE49-F238E27FC236}">
                <a16:creationId xmlns:a16="http://schemas.microsoft.com/office/drawing/2014/main" id="{C4906D5E-5E36-1C05-7F8B-7C7D525172D0}"/>
              </a:ext>
            </a:extLst>
          </p:cNvPr>
          <p:cNvSpPr/>
          <p:nvPr/>
        </p:nvSpPr>
        <p:spPr>
          <a:xfrm>
            <a:off x="7810503" y="3829049"/>
            <a:ext cx="6972299" cy="400050"/>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725" b="1" i="0" u="none" strike="noStrike" kern="0" cap="none" spc="0" baseline="0">
                <a:solidFill>
                  <a:srgbClr val="79549E"/>
                </a:solidFill>
                <a:uFillTx/>
                <a:latin typeface="DejaVu Sans"/>
                <a:ea typeface="DejaVu Sans"/>
                <a:cs typeface="DejaVu Sans"/>
              </a:defRPr>
            </a:pPr>
            <a:r>
              <a:rPr lang="sv-SE" sz="1725" b="1" i="0" u="none" strike="noStrike" kern="1200" cap="none" spc="0" baseline="0">
                <a:solidFill>
                  <a:srgbClr val="79549E"/>
                </a:solidFill>
                <a:uFillTx/>
                <a:latin typeface="DejaVu Sans"/>
                <a:ea typeface="DejaVu Sans"/>
                <a:cs typeface="DejaVu Sans"/>
              </a:rPr>
              <a:t>MÅLET MED SPELET</a:t>
            </a:r>
          </a:p>
        </p:txBody>
      </p:sp>
      <p:sp>
        <p:nvSpPr>
          <p:cNvPr id="15" name="MÅLET MED SPELET – skriv här">
            <a:extLst>
              <a:ext uri="{FF2B5EF4-FFF2-40B4-BE49-F238E27FC236}">
                <a16:creationId xmlns:a16="http://schemas.microsoft.com/office/drawing/2014/main" id="{986159D6-8D76-9F14-CE41-2FC3F2F5C1EB}"/>
              </a:ext>
            </a:extLst>
          </p:cNvPr>
          <p:cNvSpPr/>
          <p:nvPr/>
        </p:nvSpPr>
        <p:spPr>
          <a:xfrm>
            <a:off x="7810503" y="4229099"/>
            <a:ext cx="6972299" cy="1466853"/>
          </a:xfrm>
          <a:prstGeom prst="rect">
            <a:avLst/>
          </a:prstGeom>
          <a:solidFill>
            <a:srgbClr val="FFFFFF"/>
          </a:solidFill>
          <a:ln w="14292" cap="flat">
            <a:solidFill>
              <a:srgbClr val="CBD2CF"/>
            </a:solidFill>
            <a:prstDash val="solid"/>
            <a:miter/>
          </a:ln>
        </p:spPr>
        <p:txBody>
          <a:bodyPr vert="horz" wrap="square" lIns="152403" tIns="114300" rIns="152403" bIns="114300" anchor="t" anchorCtr="0" compatLnSpc="1">
            <a:noAutofit/>
          </a:bodyPr>
          <a:lstStyle/>
          <a:p>
            <a:pPr marL="0" marR="0" lvl="0" indent="0" algn="l" defTabSz="914400" rtl="0" fontAlgn="auto" hangingPunct="1">
              <a:lnSpc>
                <a:spcPct val="100000"/>
              </a:lnSpc>
              <a:spcBef>
                <a:spcPts val="0"/>
              </a:spcBef>
              <a:spcAft>
                <a:spcPts val="0"/>
              </a:spcAft>
              <a:buNone/>
              <a:tabLst/>
              <a:defRPr sz="2100" b="0" i="0" u="none" strike="noStrike" kern="0" cap="none" spc="0" baseline="0">
                <a:solidFill>
                  <a:srgbClr val="192C31"/>
                </a:solidFill>
                <a:uFillTx/>
                <a:latin typeface="DejaVu Sans"/>
                <a:ea typeface="DejaVu Sans"/>
                <a:cs typeface="DejaVu Sans"/>
              </a:defRPr>
            </a:pPr>
            <a:r>
              <a:rPr lang="sv-SE" sz="3600" b="0" i="0" u="none" strike="noStrike" kern="1200" cap="none" spc="0" baseline="0">
                <a:solidFill>
                  <a:srgbClr val="192C31"/>
                </a:solidFill>
                <a:uFillTx/>
                <a:latin typeface="DejaVu Sans"/>
                <a:ea typeface="DejaVu Sans"/>
                <a:cs typeface="DejaVu Sans"/>
              </a:rPr>
              <a:t>Ta över motståndarens torn. </a:t>
            </a:r>
          </a:p>
        </p:txBody>
      </p:sp>
      <p:sp>
        <p:nvSpPr>
          <p:cNvPr id="16" name="ANTAL SPELARE">
            <a:extLst>
              <a:ext uri="{FF2B5EF4-FFF2-40B4-BE49-F238E27FC236}">
                <a16:creationId xmlns:a16="http://schemas.microsoft.com/office/drawing/2014/main" id="{2675C853-5AE2-D709-2C46-57F81E2BF5DC}"/>
              </a:ext>
            </a:extLst>
          </p:cNvPr>
          <p:cNvSpPr/>
          <p:nvPr/>
        </p:nvSpPr>
        <p:spPr>
          <a:xfrm>
            <a:off x="457200" y="5934071"/>
            <a:ext cx="3810003" cy="400050"/>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725" b="1" i="0" u="none" strike="noStrike" kern="0" cap="none" spc="0" baseline="0">
                <a:solidFill>
                  <a:srgbClr val="79549E"/>
                </a:solidFill>
                <a:uFillTx/>
                <a:latin typeface="DejaVu Sans"/>
                <a:ea typeface="DejaVu Sans"/>
                <a:cs typeface="DejaVu Sans"/>
              </a:defRPr>
            </a:pPr>
            <a:r>
              <a:rPr lang="sv-SE" sz="1725" b="1" i="0" u="none" strike="noStrike" kern="1200" cap="none" spc="0" baseline="0">
                <a:solidFill>
                  <a:srgbClr val="79549E"/>
                </a:solidFill>
                <a:uFillTx/>
                <a:latin typeface="DejaVu Sans"/>
                <a:ea typeface="DejaVu Sans"/>
                <a:cs typeface="DejaVu Sans"/>
              </a:rPr>
              <a:t>ANTAL SPELARE</a:t>
            </a:r>
          </a:p>
        </p:txBody>
      </p:sp>
      <p:sp>
        <p:nvSpPr>
          <p:cNvPr id="17" name="ANTAL SPELARE – skriv här">
            <a:extLst>
              <a:ext uri="{FF2B5EF4-FFF2-40B4-BE49-F238E27FC236}">
                <a16:creationId xmlns:a16="http://schemas.microsoft.com/office/drawing/2014/main" id="{528EC3B7-B47F-1B29-C1FC-1FA660E6D70E}"/>
              </a:ext>
            </a:extLst>
          </p:cNvPr>
          <p:cNvSpPr/>
          <p:nvPr/>
        </p:nvSpPr>
        <p:spPr>
          <a:xfrm>
            <a:off x="457200" y="6334121"/>
            <a:ext cx="3810003" cy="1466853"/>
          </a:xfrm>
          <a:prstGeom prst="rect">
            <a:avLst/>
          </a:prstGeom>
          <a:solidFill>
            <a:srgbClr val="FFFFFF"/>
          </a:solidFill>
          <a:ln w="14292" cap="flat">
            <a:solidFill>
              <a:srgbClr val="CBD2CF"/>
            </a:solidFill>
            <a:prstDash val="solid"/>
            <a:miter/>
          </a:ln>
        </p:spPr>
        <p:txBody>
          <a:bodyPr vert="horz" wrap="square" lIns="152403" tIns="114300" rIns="152403" bIns="114300" anchor="t" anchorCtr="0" compatLnSpc="1">
            <a:noAutofit/>
          </a:bodyPr>
          <a:lstStyle/>
          <a:p>
            <a:pPr marL="0" marR="0" lvl="0" indent="0" algn="l" defTabSz="914400" rtl="0" fontAlgn="auto" hangingPunct="1">
              <a:lnSpc>
                <a:spcPct val="100000"/>
              </a:lnSpc>
              <a:spcBef>
                <a:spcPts val="0"/>
              </a:spcBef>
              <a:spcAft>
                <a:spcPts val="0"/>
              </a:spcAft>
              <a:buNone/>
              <a:tabLst/>
              <a:defRPr sz="2100" b="0" i="0" u="none" strike="noStrike" kern="0" cap="none" spc="0" baseline="0">
                <a:solidFill>
                  <a:srgbClr val="192C31"/>
                </a:solidFill>
                <a:uFillTx/>
                <a:latin typeface="DejaVu Sans"/>
                <a:ea typeface="DejaVu Sans"/>
                <a:cs typeface="DejaVu Sans"/>
              </a:defRPr>
            </a:pPr>
            <a:r>
              <a:rPr lang="sv-SE" sz="2400" b="0" i="0" u="none" strike="noStrike" kern="1200" cap="none" spc="0" baseline="0">
                <a:solidFill>
                  <a:srgbClr val="192C31"/>
                </a:solidFill>
                <a:uFillTx/>
                <a:latin typeface="DejaVu Sans"/>
                <a:ea typeface="DejaVu Sans"/>
                <a:cs typeface="DejaVu Sans"/>
              </a:rPr>
              <a:t> 2,4,6, måste vara jämt. </a:t>
            </a:r>
          </a:p>
        </p:txBody>
      </p:sp>
      <p:sp>
        <p:nvSpPr>
          <p:cNvPr id="18" name="HUR VINNER ELLER SLUTAR SPELET?">
            <a:extLst>
              <a:ext uri="{FF2B5EF4-FFF2-40B4-BE49-F238E27FC236}">
                <a16:creationId xmlns:a16="http://schemas.microsoft.com/office/drawing/2014/main" id="{8E7E7FFD-D2B3-4C06-4ECC-C579075B4915}"/>
              </a:ext>
            </a:extLst>
          </p:cNvPr>
          <p:cNvSpPr/>
          <p:nvPr/>
        </p:nvSpPr>
        <p:spPr>
          <a:xfrm>
            <a:off x="4648196" y="5934071"/>
            <a:ext cx="10134596" cy="400050"/>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725" b="1" i="0" u="none" strike="noStrike" kern="0" cap="none" spc="0" baseline="0">
                <a:solidFill>
                  <a:srgbClr val="79549E"/>
                </a:solidFill>
                <a:uFillTx/>
                <a:latin typeface="DejaVu Sans"/>
                <a:ea typeface="DejaVu Sans"/>
                <a:cs typeface="DejaVu Sans"/>
              </a:defRPr>
            </a:pPr>
            <a:r>
              <a:rPr lang="sv-SE" sz="1725" b="1" i="0" u="none" strike="noStrike" kern="1200" cap="none" spc="0" baseline="0">
                <a:solidFill>
                  <a:srgbClr val="79549E"/>
                </a:solidFill>
                <a:uFillTx/>
                <a:latin typeface="DejaVu Sans"/>
                <a:ea typeface="DejaVu Sans"/>
                <a:cs typeface="DejaVu Sans"/>
              </a:rPr>
              <a:t>HUR VINNER ELLER SLUTAR SPELET?</a:t>
            </a:r>
          </a:p>
        </p:txBody>
      </p:sp>
      <p:sp>
        <p:nvSpPr>
          <p:cNvPr id="19" name="HUR VINNER ELLER SLUTAR SPELET? – skriv här">
            <a:extLst>
              <a:ext uri="{FF2B5EF4-FFF2-40B4-BE49-F238E27FC236}">
                <a16:creationId xmlns:a16="http://schemas.microsoft.com/office/drawing/2014/main" id="{384EFBB1-2F96-17F8-EAF8-042CF1A81F3F}"/>
              </a:ext>
            </a:extLst>
          </p:cNvPr>
          <p:cNvSpPr/>
          <p:nvPr/>
        </p:nvSpPr>
        <p:spPr>
          <a:xfrm>
            <a:off x="4648196" y="6334121"/>
            <a:ext cx="10134596" cy="1466853"/>
          </a:xfrm>
          <a:prstGeom prst="rect">
            <a:avLst/>
          </a:prstGeom>
          <a:solidFill>
            <a:srgbClr val="FFFFFF"/>
          </a:solidFill>
          <a:ln w="14292" cap="flat">
            <a:solidFill>
              <a:srgbClr val="CBD2CF"/>
            </a:solidFill>
            <a:prstDash val="solid"/>
            <a:miter/>
          </a:ln>
        </p:spPr>
        <p:txBody>
          <a:bodyPr vert="horz" wrap="square" lIns="152403" tIns="114300" rIns="152403" bIns="114300" anchor="t" anchorCtr="0" compatLnSpc="1">
            <a:noAutofit/>
          </a:bodyPr>
          <a:lstStyle/>
          <a:p>
            <a:pPr marL="0" marR="0" lvl="0" indent="0" algn="l" defTabSz="914400" rtl="0" fontAlgn="auto" hangingPunct="1">
              <a:lnSpc>
                <a:spcPct val="100000"/>
              </a:lnSpc>
              <a:spcBef>
                <a:spcPts val="0"/>
              </a:spcBef>
              <a:spcAft>
                <a:spcPts val="0"/>
              </a:spcAft>
              <a:buNone/>
              <a:tabLst/>
              <a:defRPr sz="2100" b="0" i="0" u="none" strike="noStrike" kern="0" cap="none" spc="0" baseline="0">
                <a:solidFill>
                  <a:srgbClr val="192C31"/>
                </a:solidFill>
                <a:uFillTx/>
                <a:latin typeface="DejaVu Sans"/>
                <a:ea typeface="DejaVu Sans"/>
                <a:cs typeface="DejaVu Sans"/>
              </a:defRPr>
            </a:pPr>
            <a:r>
              <a:rPr lang="sv-SE" sz="4000" b="0" i="0" u="none" strike="noStrike" kern="1200" cap="none" spc="0" baseline="0">
                <a:solidFill>
                  <a:srgbClr val="192C31"/>
                </a:solidFill>
                <a:uFillTx/>
                <a:latin typeface="DejaVu Sans"/>
                <a:ea typeface="DejaVu Sans"/>
                <a:cs typeface="DejaVu Sans"/>
              </a:rPr>
              <a:t> Tar över motståndarens torn på borgen.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19">
    <p:bg>
      <p:bgPr>
        <a:solidFill>
          <a:srgbClr val="F7F8F4"/>
        </a:solidFill>
        <a:effectLst/>
      </p:bgPr>
    </p:bg>
    <p:spTree>
      <p:nvGrpSpPr>
        <p:cNvPr id="1" name=""/>
        <p:cNvGrpSpPr/>
        <p:nvPr/>
      </p:nvGrpSpPr>
      <p:grpSpPr>
        <a:xfrm>
          <a:off x="0" y="0"/>
          <a:ext cx="0" cy="0"/>
          <a:chOff x="0" y="0"/>
          <a:chExt cx="0" cy="0"/>
        </a:xfrm>
      </p:grpSpPr>
      <p:sp>
        <p:nvSpPr>
          <p:cNvPr id="2" name="Rectangle 23">
            <a:extLst>
              <a:ext uri="{FF2B5EF4-FFF2-40B4-BE49-F238E27FC236}">
                <a16:creationId xmlns:a16="http://schemas.microsoft.com/office/drawing/2014/main" id="{B816602A-7EA4-2247-90C6-F4FC597B9610}"/>
              </a:ext>
            </a:extLst>
          </p:cNvPr>
          <p:cNvSpPr/>
          <p:nvPr/>
        </p:nvSpPr>
        <p:spPr>
          <a:xfrm>
            <a:off x="0" y="0"/>
            <a:ext cx="15240003" cy="95253"/>
          </a:xfrm>
          <a:prstGeom prst="rect">
            <a:avLst/>
          </a:prstGeom>
          <a:solidFill>
            <a:srgbClr val="79549E"/>
          </a:solidFill>
          <a:ln w="14292" cap="flat">
            <a:solidFill>
              <a:srgbClr val="79549E"/>
            </a:solidFill>
            <a:prstDash val="solid"/>
            <a:miter/>
          </a:ln>
        </p:spPr>
        <p:txBody>
          <a:bodyPr lIns="0" tIns="0" rIns="0" bIns="0"/>
          <a:lstStyle/>
          <a:p>
            <a:endParaRPr lang="sv-SE"/>
          </a:p>
        </p:txBody>
      </p:sp>
      <p:sp>
        <p:nvSpPr>
          <p:cNvPr id="3" name="GRUPP 4 – ARBETSYTA">
            <a:extLst>
              <a:ext uri="{FF2B5EF4-FFF2-40B4-BE49-F238E27FC236}">
                <a16:creationId xmlns:a16="http://schemas.microsoft.com/office/drawing/2014/main" id="{F2D4D730-51A6-8EC7-D1E8-31A052E74385}"/>
              </a:ext>
            </a:extLst>
          </p:cNvPr>
          <p:cNvSpPr/>
          <p:nvPr/>
        </p:nvSpPr>
        <p:spPr>
          <a:xfrm>
            <a:off x="457200" y="295278"/>
            <a:ext cx="13525503" cy="304796"/>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650" b="1" i="0" u="none" strike="noStrike" kern="0" cap="none" spc="0" baseline="0">
                <a:solidFill>
                  <a:srgbClr val="79549E"/>
                </a:solidFill>
                <a:uFillTx/>
                <a:latin typeface="DejaVu Sans"/>
                <a:ea typeface="DejaVu Sans"/>
                <a:cs typeface="DejaVu Sans"/>
              </a:defRPr>
            </a:pPr>
            <a:r>
              <a:rPr lang="sv-SE" sz="1650" b="1" i="0" u="none" strike="noStrike" kern="1200" cap="none" spc="0" baseline="0">
                <a:solidFill>
                  <a:srgbClr val="79549E"/>
                </a:solidFill>
                <a:uFillTx/>
                <a:latin typeface="DejaVu Sans"/>
                <a:ea typeface="DejaVu Sans"/>
                <a:cs typeface="DejaVu Sans"/>
              </a:rPr>
              <a:t>GRUPP 4 – ARBETSYTA</a:t>
            </a:r>
          </a:p>
        </p:txBody>
      </p:sp>
      <p:sp>
        <p:nvSpPr>
          <p:cNvPr id="4" name="SÅ FUNGERAR SPELET">
            <a:extLst>
              <a:ext uri="{FF2B5EF4-FFF2-40B4-BE49-F238E27FC236}">
                <a16:creationId xmlns:a16="http://schemas.microsoft.com/office/drawing/2014/main" id="{F8B007B1-AB3E-F50A-4007-BCAE009287B2}"/>
              </a:ext>
            </a:extLst>
          </p:cNvPr>
          <p:cNvSpPr/>
          <p:nvPr/>
        </p:nvSpPr>
        <p:spPr>
          <a:xfrm>
            <a:off x="457200" y="781053"/>
            <a:ext cx="14325603" cy="704846"/>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3600" b="1" i="0" u="none" strike="noStrike" kern="0" cap="none" spc="0" baseline="0">
                <a:solidFill>
                  <a:srgbClr val="192C31"/>
                </a:solidFill>
                <a:uFillTx/>
                <a:latin typeface="DejaVu Sans"/>
                <a:ea typeface="DejaVu Sans"/>
                <a:cs typeface="DejaVu Sans"/>
              </a:defRPr>
            </a:pPr>
            <a:r>
              <a:rPr lang="sv-SE" sz="3600" b="1" i="0" u="none" strike="noStrike" kern="1200" cap="none" spc="0" baseline="0">
                <a:solidFill>
                  <a:srgbClr val="192C31"/>
                </a:solidFill>
                <a:uFillTx/>
                <a:latin typeface="DejaVu Sans"/>
                <a:ea typeface="DejaVu Sans"/>
                <a:cs typeface="DejaVu Sans"/>
              </a:rPr>
              <a:t>SÅ FUNGERAR SPELET</a:t>
            </a:r>
          </a:p>
        </p:txBody>
      </p:sp>
      <p:sp>
        <p:nvSpPr>
          <p:cNvPr id="5" name="B  SYSTEM     •     Skriv ett steg i varje ruta. Lägg till e">
            <a:extLst>
              <a:ext uri="{FF2B5EF4-FFF2-40B4-BE49-F238E27FC236}">
                <a16:creationId xmlns:a16="http://schemas.microsoft.com/office/drawing/2014/main" id="{841CD1B7-2D35-A0B4-E45F-88500C9C792B}"/>
              </a:ext>
            </a:extLst>
          </p:cNvPr>
          <p:cNvSpPr/>
          <p:nvPr/>
        </p:nvSpPr>
        <p:spPr>
          <a:xfrm>
            <a:off x="457200" y="8162921"/>
            <a:ext cx="13525503" cy="257175"/>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350" b="0" i="0" u="none" strike="noStrike" kern="0" cap="none" spc="0" baseline="0">
                <a:solidFill>
                  <a:srgbClr val="58686A"/>
                </a:solidFill>
                <a:uFillTx/>
                <a:latin typeface="DejaVu Sans"/>
                <a:ea typeface="DejaVu Sans"/>
                <a:cs typeface="DejaVu Sans"/>
              </a:defRPr>
            </a:pPr>
            <a:r>
              <a:rPr lang="sv-SE" sz="1350" b="0" i="0" u="none" strike="noStrike" kern="1200" cap="none" spc="0" baseline="0">
                <a:solidFill>
                  <a:srgbClr val="58686A"/>
                </a:solidFill>
                <a:uFillTx/>
                <a:latin typeface="DejaVu Sans"/>
                <a:ea typeface="DejaVu Sans"/>
                <a:cs typeface="DejaVu Sans"/>
              </a:rPr>
              <a:t>B  SYSTEM     •     Skriv ett steg i varje ruta. Lägg till egna former vid behov.</a:t>
            </a:r>
          </a:p>
        </p:txBody>
      </p:sp>
      <p:sp>
        <p:nvSpPr>
          <p:cNvPr id="6" name="19">
            <a:extLst>
              <a:ext uri="{FF2B5EF4-FFF2-40B4-BE49-F238E27FC236}">
                <a16:creationId xmlns:a16="http://schemas.microsoft.com/office/drawing/2014/main" id="{2404AFC4-9F87-8A53-0F0C-C09FC107FCFA}"/>
              </a:ext>
            </a:extLst>
          </p:cNvPr>
          <p:cNvSpPr/>
          <p:nvPr/>
        </p:nvSpPr>
        <p:spPr>
          <a:xfrm>
            <a:off x="14192246" y="8096253"/>
            <a:ext cx="571500" cy="333371"/>
          </a:xfrm>
          <a:prstGeom prst="rect">
            <a:avLst/>
          </a:prstGeom>
          <a:noFill/>
          <a:ln cap="flat">
            <a:noFill/>
            <a:prstDash val="solid"/>
          </a:ln>
        </p:spPr>
        <p:txBody>
          <a:bodyPr vert="horz" wrap="square" lIns="0" tIns="0" rIns="0" bIns="0" anchor="t" anchorCtr="0" compatLnSpc="1">
            <a:noAutofit/>
          </a:bodyPr>
          <a:lstStyle/>
          <a:p>
            <a:pPr marL="0" marR="0" lvl="0" indent="0" algn="r" defTabSz="914400" rtl="0" fontAlgn="auto" hangingPunct="1">
              <a:lnSpc>
                <a:spcPct val="100000"/>
              </a:lnSpc>
              <a:spcBef>
                <a:spcPts val="0"/>
              </a:spcBef>
              <a:spcAft>
                <a:spcPts val="0"/>
              </a:spcAft>
              <a:buNone/>
              <a:tabLst/>
              <a:defRPr sz="1650" b="1" i="0" u="none" strike="noStrike" kern="0" cap="none" spc="0" baseline="0">
                <a:solidFill>
                  <a:srgbClr val="79549E"/>
                </a:solidFill>
                <a:uFillTx/>
                <a:latin typeface="DejaVu Sans"/>
                <a:ea typeface="DejaVu Sans"/>
                <a:cs typeface="DejaVu Sans"/>
              </a:defRPr>
            </a:pPr>
            <a:r>
              <a:rPr lang="sv-SE" sz="1650" b="1" i="0" u="none" strike="noStrike" kern="1200" cap="none" spc="0" baseline="0">
                <a:solidFill>
                  <a:srgbClr val="79549E"/>
                </a:solidFill>
                <a:uFillTx/>
                <a:latin typeface="DejaVu Sans"/>
                <a:ea typeface="DejaVu Sans"/>
                <a:cs typeface="DejaVu Sans"/>
              </a:rPr>
              <a:t>19</a:t>
            </a:r>
          </a:p>
        </p:txBody>
      </p:sp>
      <p:sp>
        <p:nvSpPr>
          <p:cNvPr id="7" name="KÄRNLOOP">
            <a:extLst>
              <a:ext uri="{FF2B5EF4-FFF2-40B4-BE49-F238E27FC236}">
                <a16:creationId xmlns:a16="http://schemas.microsoft.com/office/drawing/2014/main" id="{3456DB67-5197-F04B-7B41-309C7D371239}"/>
              </a:ext>
            </a:extLst>
          </p:cNvPr>
          <p:cNvSpPr/>
          <p:nvPr/>
        </p:nvSpPr>
        <p:spPr>
          <a:xfrm>
            <a:off x="457200" y="1571625"/>
            <a:ext cx="14325603" cy="323853"/>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75" b="1" i="0" u="none" strike="noStrike" kern="0" cap="none" spc="0" baseline="0">
                <a:solidFill>
                  <a:srgbClr val="79549E"/>
                </a:solidFill>
                <a:uFillTx/>
                <a:latin typeface="DejaVu Sans"/>
                <a:ea typeface="DejaVu Sans"/>
                <a:cs typeface="DejaVu Sans"/>
              </a:defRPr>
            </a:pPr>
            <a:r>
              <a:rPr lang="sv-SE" sz="1875" b="1" i="0" u="none" strike="noStrike" kern="1200" cap="none" spc="0" baseline="0">
                <a:solidFill>
                  <a:srgbClr val="79549E"/>
                </a:solidFill>
                <a:uFillTx/>
                <a:latin typeface="DejaVu Sans"/>
                <a:ea typeface="DejaVu Sans"/>
                <a:cs typeface="DejaVu Sans"/>
              </a:rPr>
              <a:t>KÄRNLOOP</a:t>
            </a:r>
          </a:p>
        </p:txBody>
      </p:sp>
      <p:sp>
        <p:nvSpPr>
          <p:cNvPr id="8" name="Rectangle 6">
            <a:extLst>
              <a:ext uri="{FF2B5EF4-FFF2-40B4-BE49-F238E27FC236}">
                <a16:creationId xmlns:a16="http://schemas.microsoft.com/office/drawing/2014/main" id="{1AB17F55-06F8-5B85-2E56-081CD24E5169}"/>
              </a:ext>
            </a:extLst>
          </p:cNvPr>
          <p:cNvSpPr/>
          <p:nvPr/>
        </p:nvSpPr>
        <p:spPr>
          <a:xfrm>
            <a:off x="457200" y="2019296"/>
            <a:ext cx="2552703" cy="1190621"/>
          </a:xfrm>
          <a:prstGeom prst="rect">
            <a:avLst/>
          </a:prstGeom>
          <a:solidFill>
            <a:srgbClr val="FFFFFF"/>
          </a:solidFill>
          <a:ln w="14292" cap="flat">
            <a:solidFill>
              <a:srgbClr val="CBD2CF"/>
            </a:solidFill>
            <a:prstDash val="solid"/>
            <a:miter/>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2100" b="0" i="0" u="none" strike="noStrike" kern="0" cap="none" spc="0" baseline="0">
                <a:solidFill>
                  <a:srgbClr val="192C31"/>
                </a:solidFill>
                <a:uFillTx/>
                <a:latin typeface="DejaVu Sans"/>
                <a:ea typeface="DejaVu Sans"/>
                <a:cs typeface="DejaVu Sans"/>
              </a:defRPr>
            </a:pPr>
            <a:r>
              <a:rPr lang="sv-SE" sz="2800" b="0" i="0" u="none" strike="noStrike" kern="1200" cap="none" spc="0" baseline="0">
                <a:solidFill>
                  <a:srgbClr val="192C31"/>
                </a:solidFill>
                <a:uFillTx/>
                <a:latin typeface="DejaVu Sans"/>
                <a:ea typeface="DejaVu Sans"/>
                <a:cs typeface="DejaVu Sans"/>
              </a:rPr>
              <a:t>En torn blir attackerad.</a:t>
            </a:r>
          </a:p>
        </p:txBody>
      </p:sp>
      <p:sp>
        <p:nvSpPr>
          <p:cNvPr id="9" name="→">
            <a:extLst>
              <a:ext uri="{FF2B5EF4-FFF2-40B4-BE49-F238E27FC236}">
                <a16:creationId xmlns:a16="http://schemas.microsoft.com/office/drawing/2014/main" id="{DFA3F0F6-9157-D3EF-CB32-8EFF2792AA4D}"/>
              </a:ext>
            </a:extLst>
          </p:cNvPr>
          <p:cNvSpPr/>
          <p:nvPr/>
        </p:nvSpPr>
        <p:spPr>
          <a:xfrm>
            <a:off x="3057525" y="2343150"/>
            <a:ext cx="342900" cy="476246"/>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2550" b="1" i="0" u="none" strike="noStrike" kern="0" cap="none" spc="0" baseline="0">
                <a:solidFill>
                  <a:srgbClr val="79549E"/>
                </a:solidFill>
                <a:uFillTx/>
                <a:latin typeface="DejaVu Sans"/>
                <a:ea typeface="DejaVu Sans"/>
                <a:cs typeface="DejaVu Sans"/>
              </a:defRPr>
            </a:pPr>
            <a:r>
              <a:rPr lang="sv-SE" sz="2550" b="1" i="0" u="none" strike="noStrike" kern="1200" cap="none" spc="0" baseline="0">
                <a:solidFill>
                  <a:srgbClr val="79549E"/>
                </a:solidFill>
                <a:uFillTx/>
                <a:latin typeface="DejaVu Sans"/>
                <a:ea typeface="DejaVu Sans"/>
                <a:cs typeface="DejaVu Sans"/>
              </a:rPr>
              <a:t>→</a:t>
            </a:r>
          </a:p>
        </p:txBody>
      </p:sp>
      <p:sp>
        <p:nvSpPr>
          <p:cNvPr id="10" name="Rectangle 8">
            <a:extLst>
              <a:ext uri="{FF2B5EF4-FFF2-40B4-BE49-F238E27FC236}">
                <a16:creationId xmlns:a16="http://schemas.microsoft.com/office/drawing/2014/main" id="{E6BD5068-10E4-3115-5F98-925C474627AC}"/>
              </a:ext>
            </a:extLst>
          </p:cNvPr>
          <p:cNvSpPr/>
          <p:nvPr/>
        </p:nvSpPr>
        <p:spPr>
          <a:xfrm>
            <a:off x="3400425" y="2019296"/>
            <a:ext cx="2552703" cy="1190621"/>
          </a:xfrm>
          <a:prstGeom prst="rect">
            <a:avLst/>
          </a:prstGeom>
          <a:solidFill>
            <a:srgbClr val="FFFFFF"/>
          </a:solidFill>
          <a:ln w="14292" cap="flat">
            <a:solidFill>
              <a:srgbClr val="CBD2CF"/>
            </a:solidFill>
            <a:prstDash val="solid"/>
            <a:miter/>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2100" b="0" i="0" u="none" strike="noStrike" kern="0" cap="none" spc="0" baseline="0">
                <a:solidFill>
                  <a:srgbClr val="192C31"/>
                </a:solidFill>
                <a:uFillTx/>
                <a:latin typeface="DejaVu Sans"/>
                <a:ea typeface="DejaVu Sans"/>
                <a:cs typeface="DejaVu Sans"/>
              </a:defRPr>
            </a:pPr>
            <a:r>
              <a:rPr lang="sv-SE" sz="2800" b="0" i="0" u="none" strike="noStrike" kern="1200" cap="none" spc="0" baseline="0">
                <a:solidFill>
                  <a:srgbClr val="192C31"/>
                </a:solidFill>
                <a:uFillTx/>
                <a:latin typeface="DejaVu Sans"/>
                <a:ea typeface="DejaVu Sans"/>
                <a:cs typeface="DejaVu Sans"/>
              </a:rPr>
              <a:t>Borgen försvaras</a:t>
            </a:r>
          </a:p>
        </p:txBody>
      </p:sp>
      <p:sp>
        <p:nvSpPr>
          <p:cNvPr id="11" name="→">
            <a:extLst>
              <a:ext uri="{FF2B5EF4-FFF2-40B4-BE49-F238E27FC236}">
                <a16:creationId xmlns:a16="http://schemas.microsoft.com/office/drawing/2014/main" id="{6091D462-CEB0-5D6C-B39C-C35E415623FE}"/>
              </a:ext>
            </a:extLst>
          </p:cNvPr>
          <p:cNvSpPr/>
          <p:nvPr/>
        </p:nvSpPr>
        <p:spPr>
          <a:xfrm>
            <a:off x="6000749" y="2343150"/>
            <a:ext cx="342900" cy="476246"/>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2550" b="1" i="0" u="none" strike="noStrike" kern="0" cap="none" spc="0" baseline="0">
                <a:solidFill>
                  <a:srgbClr val="79549E"/>
                </a:solidFill>
                <a:uFillTx/>
                <a:latin typeface="DejaVu Sans"/>
                <a:ea typeface="DejaVu Sans"/>
                <a:cs typeface="DejaVu Sans"/>
              </a:defRPr>
            </a:pPr>
            <a:r>
              <a:rPr lang="sv-SE" sz="2550" b="1" i="0" u="none" strike="noStrike" kern="1200" cap="none" spc="0" baseline="0">
                <a:solidFill>
                  <a:srgbClr val="79549E"/>
                </a:solidFill>
                <a:uFillTx/>
                <a:latin typeface="DejaVu Sans"/>
                <a:ea typeface="DejaVu Sans"/>
                <a:cs typeface="DejaVu Sans"/>
              </a:rPr>
              <a:t>→</a:t>
            </a:r>
          </a:p>
        </p:txBody>
      </p:sp>
      <p:sp>
        <p:nvSpPr>
          <p:cNvPr id="12" name="Rectangle 10">
            <a:extLst>
              <a:ext uri="{FF2B5EF4-FFF2-40B4-BE49-F238E27FC236}">
                <a16:creationId xmlns:a16="http://schemas.microsoft.com/office/drawing/2014/main" id="{6529BF5B-737A-FDB7-96E9-03CFDA5C901E}"/>
              </a:ext>
            </a:extLst>
          </p:cNvPr>
          <p:cNvSpPr/>
          <p:nvPr/>
        </p:nvSpPr>
        <p:spPr>
          <a:xfrm>
            <a:off x="6343650" y="2019296"/>
            <a:ext cx="2552703" cy="1190621"/>
          </a:xfrm>
          <a:prstGeom prst="rect">
            <a:avLst/>
          </a:prstGeom>
          <a:solidFill>
            <a:srgbClr val="FFFFFF"/>
          </a:solidFill>
          <a:ln w="14292" cap="flat">
            <a:solidFill>
              <a:srgbClr val="CBD2CF"/>
            </a:solidFill>
            <a:prstDash val="solid"/>
            <a:miter/>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2100" b="0" i="0" u="none" strike="noStrike" kern="0" cap="none" spc="0" baseline="0">
                <a:solidFill>
                  <a:srgbClr val="192C31"/>
                </a:solidFill>
                <a:uFillTx/>
                <a:latin typeface="DejaVu Sans"/>
                <a:ea typeface="DejaVu Sans"/>
                <a:cs typeface="DejaVu Sans"/>
              </a:defRPr>
            </a:pPr>
            <a:r>
              <a:rPr lang="sv-SE" sz="3200" b="0" i="0" u="none" strike="noStrike" kern="1200" cap="none" spc="0" baseline="0">
                <a:solidFill>
                  <a:srgbClr val="192C31"/>
                </a:solidFill>
                <a:uFillTx/>
                <a:latin typeface="DejaVu Sans"/>
                <a:ea typeface="DejaVu Sans"/>
                <a:cs typeface="DejaVu Sans"/>
              </a:rPr>
              <a:t>Avgör striden.</a:t>
            </a:r>
          </a:p>
        </p:txBody>
      </p:sp>
      <p:sp>
        <p:nvSpPr>
          <p:cNvPr id="13" name="→">
            <a:extLst>
              <a:ext uri="{FF2B5EF4-FFF2-40B4-BE49-F238E27FC236}">
                <a16:creationId xmlns:a16="http://schemas.microsoft.com/office/drawing/2014/main" id="{F4DC23CB-483B-24E6-29D5-01A7708DF4A9}"/>
              </a:ext>
            </a:extLst>
          </p:cNvPr>
          <p:cNvSpPr/>
          <p:nvPr/>
        </p:nvSpPr>
        <p:spPr>
          <a:xfrm>
            <a:off x="8943974" y="2343150"/>
            <a:ext cx="342900" cy="476246"/>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2550" b="1" i="0" u="none" strike="noStrike" kern="0" cap="none" spc="0" baseline="0">
                <a:solidFill>
                  <a:srgbClr val="79549E"/>
                </a:solidFill>
                <a:uFillTx/>
                <a:latin typeface="DejaVu Sans"/>
                <a:ea typeface="DejaVu Sans"/>
                <a:cs typeface="DejaVu Sans"/>
              </a:defRPr>
            </a:pPr>
            <a:r>
              <a:rPr lang="sv-SE" sz="2550" b="1" i="0" u="none" strike="noStrike" kern="1200" cap="none" spc="0" baseline="0">
                <a:solidFill>
                  <a:srgbClr val="79549E"/>
                </a:solidFill>
                <a:uFillTx/>
                <a:latin typeface="DejaVu Sans"/>
                <a:ea typeface="DejaVu Sans"/>
                <a:cs typeface="DejaVu Sans"/>
              </a:rPr>
              <a:t>→</a:t>
            </a:r>
          </a:p>
        </p:txBody>
      </p:sp>
      <p:sp>
        <p:nvSpPr>
          <p:cNvPr id="14" name="Rectangle 12">
            <a:extLst>
              <a:ext uri="{FF2B5EF4-FFF2-40B4-BE49-F238E27FC236}">
                <a16:creationId xmlns:a16="http://schemas.microsoft.com/office/drawing/2014/main" id="{B08974DC-DC0A-6227-5BCE-127F7EE022C7}"/>
              </a:ext>
            </a:extLst>
          </p:cNvPr>
          <p:cNvSpPr/>
          <p:nvPr/>
        </p:nvSpPr>
        <p:spPr>
          <a:xfrm>
            <a:off x="9286875" y="2019296"/>
            <a:ext cx="2552703" cy="1190621"/>
          </a:xfrm>
          <a:prstGeom prst="rect">
            <a:avLst/>
          </a:prstGeom>
          <a:solidFill>
            <a:srgbClr val="FFFFFF"/>
          </a:solidFill>
          <a:ln w="14292" cap="flat">
            <a:solidFill>
              <a:srgbClr val="CBD2CF"/>
            </a:solidFill>
            <a:prstDash val="solid"/>
            <a:miter/>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2100" b="0" i="0" u="none" strike="noStrike" kern="0" cap="none" spc="0" baseline="0">
                <a:solidFill>
                  <a:srgbClr val="192C31"/>
                </a:solidFill>
                <a:uFillTx/>
                <a:latin typeface="DejaVu Sans"/>
                <a:ea typeface="DejaVu Sans"/>
                <a:cs typeface="DejaVu Sans"/>
              </a:defRPr>
            </a:pPr>
            <a:r>
              <a:rPr lang="sv-SE" sz="2800" b="0" i="0" u="none" strike="noStrike" kern="1200" cap="none" spc="0" baseline="0">
                <a:solidFill>
                  <a:srgbClr val="192C31"/>
                </a:solidFill>
                <a:uFillTx/>
                <a:latin typeface="DejaVu Sans"/>
                <a:ea typeface="DejaVu Sans"/>
                <a:cs typeface="DejaVu Sans"/>
              </a:rPr>
              <a:t>Fyll på med kort.</a:t>
            </a:r>
          </a:p>
        </p:txBody>
      </p:sp>
      <p:sp>
        <p:nvSpPr>
          <p:cNvPr id="15" name="→">
            <a:extLst>
              <a:ext uri="{FF2B5EF4-FFF2-40B4-BE49-F238E27FC236}">
                <a16:creationId xmlns:a16="http://schemas.microsoft.com/office/drawing/2014/main" id="{3589DFB2-B7FC-1669-7E1B-D7D668A7097F}"/>
              </a:ext>
            </a:extLst>
          </p:cNvPr>
          <p:cNvSpPr/>
          <p:nvPr/>
        </p:nvSpPr>
        <p:spPr>
          <a:xfrm>
            <a:off x="11887200" y="2343150"/>
            <a:ext cx="342900" cy="476246"/>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2550" b="1" i="0" u="none" strike="noStrike" kern="0" cap="none" spc="0" baseline="0">
                <a:solidFill>
                  <a:srgbClr val="79549E"/>
                </a:solidFill>
                <a:uFillTx/>
                <a:latin typeface="DejaVu Sans"/>
                <a:ea typeface="DejaVu Sans"/>
                <a:cs typeface="DejaVu Sans"/>
              </a:defRPr>
            </a:pPr>
            <a:r>
              <a:rPr lang="sv-SE" sz="2550" b="1" i="0" u="none" strike="noStrike" kern="1200" cap="none" spc="0" baseline="0">
                <a:solidFill>
                  <a:srgbClr val="79549E"/>
                </a:solidFill>
                <a:uFillTx/>
                <a:latin typeface="DejaVu Sans"/>
                <a:ea typeface="DejaVu Sans"/>
                <a:cs typeface="DejaVu Sans"/>
              </a:rPr>
              <a:t>→</a:t>
            </a:r>
          </a:p>
        </p:txBody>
      </p:sp>
      <p:sp>
        <p:nvSpPr>
          <p:cNvPr id="16" name="Rectangle 14">
            <a:extLst>
              <a:ext uri="{FF2B5EF4-FFF2-40B4-BE49-F238E27FC236}">
                <a16:creationId xmlns:a16="http://schemas.microsoft.com/office/drawing/2014/main" id="{D4C2681B-2A58-6126-2632-834F2B4369D5}"/>
              </a:ext>
            </a:extLst>
          </p:cNvPr>
          <p:cNvSpPr/>
          <p:nvPr/>
        </p:nvSpPr>
        <p:spPr>
          <a:xfrm>
            <a:off x="12230100" y="2019296"/>
            <a:ext cx="2552703" cy="1190621"/>
          </a:xfrm>
          <a:prstGeom prst="rect">
            <a:avLst/>
          </a:prstGeom>
          <a:solidFill>
            <a:srgbClr val="FFFFFF"/>
          </a:solidFill>
          <a:ln w="14292" cap="flat">
            <a:solidFill>
              <a:srgbClr val="CBD2CF"/>
            </a:solidFill>
            <a:prstDash val="solid"/>
            <a:miter/>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2100" b="0" i="0" u="none" strike="noStrike" kern="0" cap="none" spc="0" baseline="0">
                <a:solidFill>
                  <a:srgbClr val="192C31"/>
                </a:solidFill>
                <a:uFillTx/>
                <a:latin typeface="DejaVu Sans"/>
                <a:ea typeface="DejaVu Sans"/>
                <a:cs typeface="DejaVu Sans"/>
              </a:defRPr>
            </a:pPr>
            <a:r>
              <a:rPr lang="sv-SE" sz="2800" b="0" i="0" u="none" strike="noStrike" kern="1200" cap="none" spc="0" baseline="0">
                <a:solidFill>
                  <a:srgbClr val="192C31"/>
                </a:solidFill>
                <a:uFillTx/>
                <a:latin typeface="DejaVu Sans"/>
                <a:ea typeface="DejaVu Sans"/>
                <a:cs typeface="DejaVu Sans"/>
              </a:rPr>
              <a:t>En torn blir attackerad.​</a:t>
            </a:r>
            <a:endParaRPr lang="sv-SE" sz="2100" b="0" i="0" u="none" strike="noStrike" kern="1200" cap="none" spc="0" baseline="0">
              <a:solidFill>
                <a:srgbClr val="192C31"/>
              </a:solidFill>
              <a:uFillTx/>
              <a:latin typeface="DejaVu Sans"/>
              <a:ea typeface="DejaVu Sans"/>
              <a:cs typeface="DejaVu Sans"/>
            </a:endParaRPr>
          </a:p>
        </p:txBody>
      </p:sp>
      <p:sp>
        <p:nvSpPr>
          <p:cNvPr id="17" name="VAD FÅR SPELAREN GÖRA?">
            <a:extLst>
              <a:ext uri="{FF2B5EF4-FFF2-40B4-BE49-F238E27FC236}">
                <a16:creationId xmlns:a16="http://schemas.microsoft.com/office/drawing/2014/main" id="{F7EDFA38-0DF4-1676-239C-26D27C2594CC}"/>
              </a:ext>
            </a:extLst>
          </p:cNvPr>
          <p:cNvSpPr/>
          <p:nvPr/>
        </p:nvSpPr>
        <p:spPr>
          <a:xfrm>
            <a:off x="457200" y="3562346"/>
            <a:ext cx="6972299" cy="400050"/>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725" b="1" i="0" u="none" strike="noStrike" kern="0" cap="none" spc="0" baseline="0">
                <a:solidFill>
                  <a:srgbClr val="79549E"/>
                </a:solidFill>
                <a:uFillTx/>
                <a:latin typeface="DejaVu Sans"/>
                <a:ea typeface="DejaVu Sans"/>
                <a:cs typeface="DejaVu Sans"/>
              </a:defRPr>
            </a:pPr>
            <a:r>
              <a:rPr lang="sv-SE" sz="1725" b="1" i="0" u="none" strike="noStrike" kern="1200" cap="none" spc="0" baseline="0">
                <a:solidFill>
                  <a:srgbClr val="79549E"/>
                </a:solidFill>
                <a:uFillTx/>
                <a:latin typeface="DejaVu Sans"/>
                <a:ea typeface="DejaVu Sans"/>
                <a:cs typeface="DejaVu Sans"/>
              </a:rPr>
              <a:t>VAD FÅR SPELAREN GÖRA?</a:t>
            </a:r>
          </a:p>
        </p:txBody>
      </p:sp>
      <p:sp>
        <p:nvSpPr>
          <p:cNvPr id="18" name="VAD FÅR SPELAREN GÖRA? – skriv här">
            <a:extLst>
              <a:ext uri="{FF2B5EF4-FFF2-40B4-BE49-F238E27FC236}">
                <a16:creationId xmlns:a16="http://schemas.microsoft.com/office/drawing/2014/main" id="{758360F1-F7FB-8011-6052-F7A88D72995F}"/>
              </a:ext>
            </a:extLst>
          </p:cNvPr>
          <p:cNvSpPr/>
          <p:nvPr/>
        </p:nvSpPr>
        <p:spPr>
          <a:xfrm>
            <a:off x="457200" y="3962396"/>
            <a:ext cx="6972299" cy="1504946"/>
          </a:xfrm>
          <a:prstGeom prst="rect">
            <a:avLst/>
          </a:prstGeom>
          <a:solidFill>
            <a:srgbClr val="FFFFFF"/>
          </a:solidFill>
          <a:ln w="14292" cap="flat">
            <a:solidFill>
              <a:srgbClr val="CBD2CF"/>
            </a:solidFill>
            <a:prstDash val="solid"/>
            <a:miter/>
          </a:ln>
        </p:spPr>
        <p:txBody>
          <a:bodyPr vert="horz" wrap="square" lIns="152403" tIns="114300" rIns="152403" bIns="114300" anchor="t" anchorCtr="0" compatLnSpc="1">
            <a:noAutofit/>
          </a:bodyPr>
          <a:lstStyle/>
          <a:p>
            <a:pPr marL="0" marR="0" lvl="0" indent="0" algn="l" defTabSz="914400" rtl="0" fontAlgn="auto" hangingPunct="1">
              <a:lnSpc>
                <a:spcPct val="100000"/>
              </a:lnSpc>
              <a:spcBef>
                <a:spcPts val="0"/>
              </a:spcBef>
              <a:spcAft>
                <a:spcPts val="0"/>
              </a:spcAft>
              <a:buNone/>
              <a:tabLst/>
              <a:defRPr sz="2100" b="0" i="0" u="none" strike="noStrike" kern="0" cap="none" spc="0" baseline="0">
                <a:solidFill>
                  <a:srgbClr val="192C31"/>
                </a:solidFill>
                <a:uFillTx/>
                <a:latin typeface="DejaVu Sans"/>
                <a:ea typeface="DejaVu Sans"/>
                <a:cs typeface="DejaVu Sans"/>
              </a:defRPr>
            </a:pPr>
            <a:r>
              <a:rPr lang="en-US" sz="2100" b="0" i="0" u="none" strike="noStrike" kern="1200" cap="none" spc="0" baseline="0">
                <a:solidFill>
                  <a:srgbClr val="192C31"/>
                </a:solidFill>
                <a:uFillTx/>
                <a:latin typeface="DejaVu Sans"/>
                <a:ea typeface="Calibri"/>
                <a:cs typeface="Calibri"/>
              </a:rPr>
              <a:t>Spelaren får attackera en motståndare, försvara sig och hjälpa en lagkamrat med attack eller försvar. Spelaren väljer vilka kort som ska användas och vilka som ska sparas. Vid noll liv är spelaren utslagen och får inte agera.</a:t>
            </a:r>
          </a:p>
          <a:p>
            <a:pPr marL="0" marR="0" lvl="0" indent="0" algn="l" defTabSz="914400" rtl="0" fontAlgn="auto" hangingPunct="1">
              <a:lnSpc>
                <a:spcPct val="100000"/>
              </a:lnSpc>
              <a:spcBef>
                <a:spcPts val="0"/>
              </a:spcBef>
              <a:spcAft>
                <a:spcPts val="0"/>
              </a:spcAft>
              <a:buNone/>
              <a:tabLst/>
              <a:defRPr sz="2100" b="0" i="0" u="none" strike="noStrike" kern="0" cap="none" spc="0" baseline="0">
                <a:solidFill>
                  <a:srgbClr val="192C31"/>
                </a:solidFill>
                <a:uFillTx/>
                <a:latin typeface="DejaVu Sans"/>
                <a:ea typeface="DejaVu Sans"/>
                <a:cs typeface="DejaVu Sans"/>
              </a:defRPr>
            </a:pPr>
            <a:endParaRPr lang="en-US" sz="2100" b="0" i="0" u="none" strike="noStrike" kern="1200" cap="none" spc="0" baseline="0">
              <a:solidFill>
                <a:srgbClr val="192C31"/>
              </a:solidFill>
              <a:uFillTx/>
              <a:latin typeface="DejaVu Sans"/>
              <a:ea typeface="DejaVu Sans"/>
              <a:cs typeface="DejaVu Sans"/>
            </a:endParaRPr>
          </a:p>
        </p:txBody>
      </p:sp>
      <p:sp>
        <p:nvSpPr>
          <p:cNvPr id="19" name="VILKA VAL MÅSTE SPELAREN GÖRA?">
            <a:extLst>
              <a:ext uri="{FF2B5EF4-FFF2-40B4-BE49-F238E27FC236}">
                <a16:creationId xmlns:a16="http://schemas.microsoft.com/office/drawing/2014/main" id="{882F51D4-01B5-6A4A-0B98-3D8CFE234E3B}"/>
              </a:ext>
            </a:extLst>
          </p:cNvPr>
          <p:cNvSpPr/>
          <p:nvPr/>
        </p:nvSpPr>
        <p:spPr>
          <a:xfrm>
            <a:off x="7810503" y="3562346"/>
            <a:ext cx="6972299" cy="400050"/>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725" b="1" i="0" u="none" strike="noStrike" kern="0" cap="none" spc="0" baseline="0">
                <a:solidFill>
                  <a:srgbClr val="79549E"/>
                </a:solidFill>
                <a:uFillTx/>
                <a:latin typeface="DejaVu Sans"/>
                <a:ea typeface="DejaVu Sans"/>
                <a:cs typeface="DejaVu Sans"/>
              </a:defRPr>
            </a:pPr>
            <a:r>
              <a:rPr lang="sv-SE" sz="1725" b="1" i="0" u="none" strike="noStrike" kern="1200" cap="none" spc="0" baseline="0">
                <a:solidFill>
                  <a:srgbClr val="79549E"/>
                </a:solidFill>
                <a:uFillTx/>
                <a:latin typeface="DejaVu Sans"/>
                <a:ea typeface="DejaVu Sans"/>
                <a:cs typeface="DejaVu Sans"/>
              </a:rPr>
              <a:t>VILKA VAL MÅSTE SPELAREN GÖRA?</a:t>
            </a:r>
          </a:p>
        </p:txBody>
      </p:sp>
      <p:sp>
        <p:nvSpPr>
          <p:cNvPr id="20" name="VILKA VAL MÅSTE SPELAREN GÖRA? – skriv här">
            <a:extLst>
              <a:ext uri="{FF2B5EF4-FFF2-40B4-BE49-F238E27FC236}">
                <a16:creationId xmlns:a16="http://schemas.microsoft.com/office/drawing/2014/main" id="{0B1213B1-9970-64F6-EAA7-F3B384690A22}"/>
              </a:ext>
            </a:extLst>
          </p:cNvPr>
          <p:cNvSpPr/>
          <p:nvPr/>
        </p:nvSpPr>
        <p:spPr>
          <a:xfrm>
            <a:off x="7810503" y="3962396"/>
            <a:ext cx="6896103" cy="1847846"/>
          </a:xfrm>
          <a:prstGeom prst="rect">
            <a:avLst/>
          </a:prstGeom>
          <a:solidFill>
            <a:srgbClr val="FFFFFF"/>
          </a:solidFill>
          <a:ln w="14292" cap="flat">
            <a:solidFill>
              <a:srgbClr val="CBD2CF"/>
            </a:solidFill>
            <a:prstDash val="solid"/>
            <a:miter/>
          </a:ln>
        </p:spPr>
        <p:txBody>
          <a:bodyPr vert="horz" wrap="square" lIns="152403" tIns="114300" rIns="152403" bIns="114300" anchor="t" anchorCtr="0" compatLnSpc="1">
            <a:noAutofit/>
          </a:bodyPr>
          <a:lstStyle/>
          <a:p>
            <a:pPr marL="285750" marR="0" lvl="0" indent="-285750" algn="l" defTabSz="914400" rtl="0" fontAlgn="auto" hangingPunct="1">
              <a:lnSpc>
                <a:spcPct val="100000"/>
              </a:lnSpc>
              <a:spcBef>
                <a:spcPts val="0"/>
              </a:spcBef>
              <a:spcAft>
                <a:spcPts val="0"/>
              </a:spcAft>
              <a:buSzPct val="100000"/>
              <a:buFont typeface="Arial"/>
              <a:buChar char="•"/>
              <a:tabLst/>
              <a:defRPr sz="2100" b="0" i="0" u="none" strike="noStrike" kern="0" cap="none" spc="0" baseline="0">
                <a:solidFill>
                  <a:srgbClr val="192C31"/>
                </a:solidFill>
                <a:uFillTx/>
                <a:latin typeface="DejaVu Sans"/>
                <a:ea typeface="DejaVu Sans"/>
                <a:cs typeface="DejaVu Sans"/>
              </a:defRPr>
            </a:pPr>
            <a:r>
              <a:rPr lang="en-US" sz="2100" b="1" i="0" u="none" strike="noStrike" kern="1200" cap="none" spc="0" baseline="0">
                <a:solidFill>
                  <a:srgbClr val="192C31"/>
                </a:solidFill>
                <a:uFillTx/>
                <a:latin typeface="DejaVu Sans"/>
                <a:ea typeface="Calibri"/>
                <a:cs typeface="Calibri"/>
              </a:rPr>
              <a:t>Vem ska jag attackera?</a:t>
            </a:r>
            <a:endParaRPr lang="en-US" sz="2100" b="0" i="0" u="none" strike="noStrike" kern="1200" cap="none" spc="0" baseline="0">
              <a:solidFill>
                <a:srgbClr val="192C31"/>
              </a:solidFill>
              <a:uFillTx/>
              <a:latin typeface="DejaVu Sans"/>
              <a:ea typeface="DejaVu Sans"/>
              <a:cs typeface="DejaVu Sans"/>
            </a:endParaRPr>
          </a:p>
          <a:p>
            <a:pPr marL="285750" marR="0" lvl="0" indent="-285750" algn="l" defTabSz="914400" rtl="0" fontAlgn="auto" hangingPunct="1">
              <a:lnSpc>
                <a:spcPct val="100000"/>
              </a:lnSpc>
              <a:spcBef>
                <a:spcPts val="0"/>
              </a:spcBef>
              <a:spcAft>
                <a:spcPts val="0"/>
              </a:spcAft>
              <a:buSzPct val="100000"/>
              <a:buFont typeface="Arial"/>
              <a:buChar char="•"/>
              <a:tabLst/>
              <a:defRPr sz="2100" b="0" i="0" u="none" strike="noStrike" kern="0" cap="none" spc="0" baseline="0">
                <a:solidFill>
                  <a:srgbClr val="192C31"/>
                </a:solidFill>
                <a:uFillTx/>
                <a:latin typeface="DejaVu Sans"/>
                <a:ea typeface="DejaVu Sans"/>
                <a:cs typeface="DejaVu Sans"/>
              </a:defRPr>
            </a:pPr>
            <a:r>
              <a:rPr lang="en-US" sz="2100" b="1" i="0" u="none" strike="noStrike" kern="1200" cap="none" spc="0" baseline="0">
                <a:solidFill>
                  <a:srgbClr val="192C31"/>
                </a:solidFill>
                <a:uFillTx/>
                <a:latin typeface="DejaVu Sans"/>
                <a:ea typeface="Calibri"/>
                <a:cs typeface="Calibri"/>
              </a:rPr>
              <a:t>Vilket kort ska jag spela?</a:t>
            </a:r>
            <a:endParaRPr lang="en-US" sz="2100" b="0" i="0" u="none" strike="noStrike" kern="1200" cap="none" spc="0" baseline="0">
              <a:solidFill>
                <a:srgbClr val="192C31"/>
              </a:solidFill>
              <a:uFillTx/>
              <a:latin typeface="DejaVu Sans"/>
              <a:ea typeface="DejaVu Sans"/>
              <a:cs typeface="DejaVu Sans"/>
            </a:endParaRPr>
          </a:p>
          <a:p>
            <a:pPr marL="285750" marR="0" lvl="0" indent="-285750" algn="l" defTabSz="914400" rtl="0" fontAlgn="auto" hangingPunct="1">
              <a:lnSpc>
                <a:spcPct val="100000"/>
              </a:lnSpc>
              <a:spcBef>
                <a:spcPts val="0"/>
              </a:spcBef>
              <a:spcAft>
                <a:spcPts val="0"/>
              </a:spcAft>
              <a:buSzPct val="100000"/>
              <a:buFont typeface="Arial"/>
              <a:buChar char="•"/>
              <a:tabLst/>
              <a:defRPr sz="2100" b="0" i="0" u="none" strike="noStrike" kern="0" cap="none" spc="0" baseline="0">
                <a:solidFill>
                  <a:srgbClr val="192C31"/>
                </a:solidFill>
                <a:uFillTx/>
                <a:latin typeface="DejaVu Sans"/>
                <a:ea typeface="DejaVu Sans"/>
                <a:cs typeface="DejaVu Sans"/>
              </a:defRPr>
            </a:pPr>
            <a:r>
              <a:rPr lang="en-US" sz="2100" b="1" i="0" u="none" strike="noStrike" kern="1200" cap="none" spc="0" baseline="0">
                <a:solidFill>
                  <a:srgbClr val="192C31"/>
                </a:solidFill>
                <a:uFillTx/>
                <a:latin typeface="DejaVu Sans"/>
                <a:ea typeface="Calibri"/>
                <a:cs typeface="Calibri"/>
              </a:rPr>
              <a:t>Ska jag hjälpa min lagkamrat eller spara korten?</a:t>
            </a:r>
            <a:endParaRPr lang="en-US" sz="2100" b="0" i="0" u="none" strike="noStrike" kern="1200" cap="none" spc="0" baseline="0">
              <a:solidFill>
                <a:srgbClr val="192C31"/>
              </a:solidFill>
              <a:uFillTx/>
              <a:latin typeface="DejaVu Sans"/>
              <a:ea typeface="DejaVu Sans"/>
              <a:cs typeface="DejaVu Sans"/>
            </a:endParaRPr>
          </a:p>
          <a:p>
            <a:pPr marL="285750" marR="0" lvl="0" indent="-285750" algn="l" defTabSz="914400" rtl="0" fontAlgn="auto" hangingPunct="1">
              <a:lnSpc>
                <a:spcPct val="100000"/>
              </a:lnSpc>
              <a:spcBef>
                <a:spcPts val="0"/>
              </a:spcBef>
              <a:spcAft>
                <a:spcPts val="0"/>
              </a:spcAft>
              <a:buSzPct val="100000"/>
              <a:buFont typeface="Arial"/>
              <a:buChar char="•"/>
              <a:tabLst/>
              <a:defRPr sz="2100" b="0" i="0" u="none" strike="noStrike" kern="0" cap="none" spc="0" baseline="0">
                <a:solidFill>
                  <a:srgbClr val="192C31"/>
                </a:solidFill>
                <a:uFillTx/>
                <a:latin typeface="DejaVu Sans"/>
                <a:ea typeface="DejaVu Sans"/>
                <a:cs typeface="DejaVu Sans"/>
              </a:defRPr>
            </a:pPr>
            <a:r>
              <a:rPr lang="en-US" sz="2100" b="1" i="0" u="none" strike="noStrike" kern="1200" cap="none" spc="0" baseline="0">
                <a:solidFill>
                  <a:srgbClr val="192C31"/>
                </a:solidFill>
                <a:uFillTx/>
                <a:latin typeface="DejaVu Sans"/>
                <a:ea typeface="Calibri"/>
                <a:cs typeface="Calibri"/>
              </a:rPr>
              <a:t>Ska jag använda mina bästa försvarskort nu eller riskera att förlora ett liv?</a:t>
            </a:r>
            <a:endParaRPr lang="en-US" sz="2100" b="0" i="0" u="none" strike="noStrike" kern="1200" cap="none" spc="0" baseline="0">
              <a:solidFill>
                <a:srgbClr val="192C31"/>
              </a:solidFill>
              <a:uFillTx/>
              <a:latin typeface="DejaVu Sans"/>
              <a:ea typeface="DejaVu Sans"/>
              <a:cs typeface="DejaVu Sans"/>
            </a:endParaRPr>
          </a:p>
          <a:p>
            <a:pPr marL="0" marR="0" lvl="0" indent="0" algn="l" defTabSz="914400" rtl="0" fontAlgn="auto" hangingPunct="1">
              <a:lnSpc>
                <a:spcPct val="100000"/>
              </a:lnSpc>
              <a:spcBef>
                <a:spcPts val="0"/>
              </a:spcBef>
              <a:spcAft>
                <a:spcPts val="0"/>
              </a:spcAft>
              <a:buNone/>
              <a:tabLst/>
              <a:defRPr sz="2100" b="0" i="0" u="none" strike="noStrike" kern="0" cap="none" spc="0" baseline="0">
                <a:solidFill>
                  <a:srgbClr val="192C31"/>
                </a:solidFill>
                <a:uFillTx/>
                <a:latin typeface="DejaVu Sans"/>
                <a:ea typeface="DejaVu Sans"/>
                <a:cs typeface="DejaVu Sans"/>
              </a:defRPr>
            </a:pPr>
            <a:endParaRPr lang="en-US" sz="2100" b="0" i="0" u="none" strike="noStrike" kern="1200" cap="none" spc="0" baseline="0">
              <a:solidFill>
                <a:srgbClr val="192C31"/>
              </a:solidFill>
              <a:uFillTx/>
              <a:latin typeface="DejaVu Sans"/>
              <a:ea typeface="DejaVu Sans"/>
              <a:cs typeface="DejaVu Sans"/>
            </a:endParaRPr>
          </a:p>
        </p:txBody>
      </p:sp>
      <p:sp>
        <p:nvSpPr>
          <p:cNvPr id="21" name="VAD SKAPAR OSÄKERHET / VARIATION?">
            <a:extLst>
              <a:ext uri="{FF2B5EF4-FFF2-40B4-BE49-F238E27FC236}">
                <a16:creationId xmlns:a16="http://schemas.microsoft.com/office/drawing/2014/main" id="{2BF82681-B2CC-443E-0D5E-FB5B0A4D8FA1}"/>
              </a:ext>
            </a:extLst>
          </p:cNvPr>
          <p:cNvSpPr/>
          <p:nvPr/>
        </p:nvSpPr>
        <p:spPr>
          <a:xfrm>
            <a:off x="457200" y="5800725"/>
            <a:ext cx="6972299" cy="400050"/>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725" b="1" i="0" u="none" strike="noStrike" kern="0" cap="none" spc="0" baseline="0">
                <a:solidFill>
                  <a:srgbClr val="79549E"/>
                </a:solidFill>
                <a:uFillTx/>
                <a:latin typeface="DejaVu Sans"/>
                <a:ea typeface="DejaVu Sans"/>
                <a:cs typeface="DejaVu Sans"/>
              </a:defRPr>
            </a:pPr>
            <a:r>
              <a:rPr lang="sv-SE" sz="1725" b="1" i="0" u="none" strike="noStrike" kern="1200" cap="none" spc="0" baseline="0">
                <a:solidFill>
                  <a:srgbClr val="79549E"/>
                </a:solidFill>
                <a:uFillTx/>
                <a:latin typeface="DejaVu Sans"/>
                <a:ea typeface="DejaVu Sans"/>
                <a:cs typeface="DejaVu Sans"/>
              </a:rPr>
              <a:t>VAD SKAPAR OSÄKERHET / VARIATION?</a:t>
            </a:r>
          </a:p>
        </p:txBody>
      </p:sp>
      <p:sp>
        <p:nvSpPr>
          <p:cNvPr id="22" name="VAD SKAPAR OSÄKERHET / VARIATION? – skriv här">
            <a:extLst>
              <a:ext uri="{FF2B5EF4-FFF2-40B4-BE49-F238E27FC236}">
                <a16:creationId xmlns:a16="http://schemas.microsoft.com/office/drawing/2014/main" id="{D933DDAE-CB30-5AC8-3896-1DB15B66E892}"/>
              </a:ext>
            </a:extLst>
          </p:cNvPr>
          <p:cNvSpPr/>
          <p:nvPr/>
        </p:nvSpPr>
        <p:spPr>
          <a:xfrm>
            <a:off x="457200" y="6188073"/>
            <a:ext cx="6896103" cy="2019296"/>
          </a:xfrm>
          <a:prstGeom prst="rect">
            <a:avLst/>
          </a:prstGeom>
          <a:solidFill>
            <a:srgbClr val="FFFFFF"/>
          </a:solidFill>
          <a:ln w="14292" cap="flat">
            <a:solidFill>
              <a:srgbClr val="CBD2CF"/>
            </a:solidFill>
            <a:prstDash val="solid"/>
            <a:miter/>
          </a:ln>
        </p:spPr>
        <p:txBody>
          <a:bodyPr vert="horz" wrap="square" lIns="152403" tIns="114300" rIns="152403" bIns="114300" anchor="t" anchorCtr="0" compatLnSpc="1">
            <a:noAutofit/>
          </a:bodyPr>
          <a:lstStyle/>
          <a:p>
            <a:pPr marL="285750" marR="0" lvl="0" indent="-285750" algn="l" defTabSz="914400" rtl="0" fontAlgn="auto" hangingPunct="1">
              <a:lnSpc>
                <a:spcPct val="100000"/>
              </a:lnSpc>
              <a:spcBef>
                <a:spcPts val="0"/>
              </a:spcBef>
              <a:spcAft>
                <a:spcPts val="0"/>
              </a:spcAft>
              <a:buSzPct val="100000"/>
              <a:buFont typeface="Arial"/>
              <a:buChar char="•"/>
              <a:tabLst/>
              <a:defRPr sz="2100" b="0" i="0" u="none" strike="noStrike" kern="0" cap="none" spc="0" baseline="0">
                <a:solidFill>
                  <a:srgbClr val="192C31"/>
                </a:solidFill>
                <a:uFillTx/>
                <a:latin typeface="DejaVu Sans"/>
                <a:ea typeface="DejaVu Sans"/>
                <a:cs typeface="DejaVu Sans"/>
              </a:defRPr>
            </a:pPr>
            <a:r>
              <a:rPr lang="en-US" sz="2000" b="1" i="0" u="none" strike="noStrike" kern="1200" cap="none" spc="0" baseline="0">
                <a:solidFill>
                  <a:srgbClr val="192C31"/>
                </a:solidFill>
                <a:uFillTx/>
                <a:latin typeface="DejaVu Sans"/>
                <a:ea typeface="Calibri"/>
                <a:cs typeface="Calibri"/>
              </a:rPr>
              <a:t>Dolda kort:</a:t>
            </a:r>
            <a:r>
              <a:rPr lang="en-US" sz="2000" b="0" i="0" u="none" strike="noStrike" kern="1200" cap="none" spc="0" baseline="0">
                <a:solidFill>
                  <a:srgbClr val="192C31"/>
                </a:solidFill>
                <a:uFillTx/>
                <a:latin typeface="DejaVu Sans"/>
                <a:ea typeface="Calibri"/>
                <a:cs typeface="Calibri"/>
              </a:rPr>
              <a:t> man vet inte vilka kort motståndarna har.</a:t>
            </a:r>
            <a:endParaRPr lang="sv-SE" sz="2000" b="0" i="0" u="none" strike="noStrike" kern="1200" cap="none" spc="0" baseline="0">
              <a:solidFill>
                <a:srgbClr val="192C31"/>
              </a:solidFill>
              <a:uFillTx/>
              <a:latin typeface="DejaVu Sans"/>
              <a:ea typeface="Calibri"/>
              <a:cs typeface="Calibri"/>
            </a:endParaRPr>
          </a:p>
          <a:p>
            <a:pPr marL="285750" marR="0" lvl="0" indent="-285750" algn="l" defTabSz="914400" rtl="0" fontAlgn="auto" hangingPunct="1">
              <a:lnSpc>
                <a:spcPct val="100000"/>
              </a:lnSpc>
              <a:spcBef>
                <a:spcPts val="0"/>
              </a:spcBef>
              <a:spcAft>
                <a:spcPts val="0"/>
              </a:spcAft>
              <a:buSzPct val="100000"/>
              <a:buFont typeface="Arial"/>
              <a:buChar char="•"/>
              <a:tabLst/>
              <a:defRPr sz="2100" b="0" i="0" u="none" strike="noStrike" kern="0" cap="none" spc="0" baseline="0">
                <a:solidFill>
                  <a:srgbClr val="192C31"/>
                </a:solidFill>
                <a:uFillTx/>
                <a:latin typeface="DejaVu Sans"/>
                <a:ea typeface="DejaVu Sans"/>
                <a:cs typeface="DejaVu Sans"/>
              </a:defRPr>
            </a:pPr>
            <a:r>
              <a:rPr lang="en-US" sz="2000" b="1" i="0" u="none" strike="noStrike" kern="1200" cap="none" spc="0" baseline="0">
                <a:solidFill>
                  <a:srgbClr val="192C31"/>
                </a:solidFill>
                <a:uFillTx/>
                <a:latin typeface="DejaVu Sans"/>
                <a:ea typeface="Calibri"/>
                <a:cs typeface="Calibri"/>
              </a:rPr>
              <a:t>Kortfördelningen:</a:t>
            </a:r>
            <a:r>
              <a:rPr lang="en-US" sz="2000" b="0" i="0" u="none" strike="noStrike" kern="1200" cap="none" spc="0" baseline="0">
                <a:solidFill>
                  <a:srgbClr val="192C31"/>
                </a:solidFill>
                <a:uFillTx/>
                <a:latin typeface="DejaVu Sans"/>
                <a:ea typeface="Calibri"/>
                <a:cs typeface="Calibri"/>
              </a:rPr>
              <a:t> olika startkort gör varje parti annorlunda.</a:t>
            </a:r>
            <a:endParaRPr lang="sv-SE" sz="2000" b="0" i="0" u="none" strike="noStrike" kern="1200" cap="none" spc="0" baseline="0">
              <a:solidFill>
                <a:srgbClr val="192C31"/>
              </a:solidFill>
              <a:uFillTx/>
              <a:latin typeface="DejaVu Sans"/>
              <a:ea typeface="Calibri"/>
              <a:cs typeface="Calibri"/>
            </a:endParaRPr>
          </a:p>
          <a:p>
            <a:pPr marL="285750" marR="0" lvl="0" indent="-285750" algn="l" defTabSz="914400" rtl="0" fontAlgn="auto" hangingPunct="1">
              <a:lnSpc>
                <a:spcPct val="100000"/>
              </a:lnSpc>
              <a:spcBef>
                <a:spcPts val="0"/>
              </a:spcBef>
              <a:spcAft>
                <a:spcPts val="0"/>
              </a:spcAft>
              <a:buSzPct val="100000"/>
              <a:buFont typeface="Arial"/>
              <a:buChar char="•"/>
              <a:tabLst/>
              <a:defRPr sz="2100" b="0" i="0" u="none" strike="noStrike" kern="0" cap="none" spc="0" baseline="0">
                <a:solidFill>
                  <a:srgbClr val="192C31"/>
                </a:solidFill>
                <a:uFillTx/>
                <a:latin typeface="DejaVu Sans"/>
                <a:ea typeface="DejaVu Sans"/>
                <a:cs typeface="DejaVu Sans"/>
              </a:defRPr>
            </a:pPr>
            <a:r>
              <a:rPr lang="en-US" sz="2000" b="1" i="0" u="none" strike="noStrike" kern="1200" cap="none" spc="0" baseline="0">
                <a:solidFill>
                  <a:srgbClr val="192C31"/>
                </a:solidFill>
                <a:uFillTx/>
                <a:latin typeface="DejaVu Sans"/>
                <a:ea typeface="Calibri"/>
                <a:cs typeface="Calibri"/>
              </a:rPr>
              <a:t>Spelarnas val:</a:t>
            </a:r>
            <a:r>
              <a:rPr lang="en-US" sz="2000" b="0" i="0" u="none" strike="noStrike" kern="1200" cap="none" spc="0" baseline="0">
                <a:solidFill>
                  <a:srgbClr val="192C31"/>
                </a:solidFill>
                <a:uFillTx/>
                <a:latin typeface="DejaVu Sans"/>
                <a:ea typeface="Calibri"/>
                <a:cs typeface="Calibri"/>
              </a:rPr>
              <a:t> vem blir attackerad och vilka kort används?</a:t>
            </a:r>
            <a:endParaRPr lang="sv-SE" sz="2000" b="0" i="0" u="none" strike="noStrike" kern="1200" cap="none" spc="0" baseline="0">
              <a:solidFill>
                <a:srgbClr val="192C31"/>
              </a:solidFill>
              <a:uFillTx/>
              <a:latin typeface="DejaVu Sans"/>
              <a:ea typeface="Calibri"/>
              <a:cs typeface="Calibri"/>
            </a:endParaRPr>
          </a:p>
          <a:p>
            <a:pPr marL="285750" marR="0" lvl="0" indent="-285750" algn="l" defTabSz="914400" rtl="0" fontAlgn="auto" hangingPunct="1">
              <a:lnSpc>
                <a:spcPct val="100000"/>
              </a:lnSpc>
              <a:spcBef>
                <a:spcPts val="0"/>
              </a:spcBef>
              <a:spcAft>
                <a:spcPts val="0"/>
              </a:spcAft>
              <a:buSzPct val="100000"/>
              <a:buFont typeface="Arial"/>
              <a:buChar char="•"/>
              <a:tabLst/>
              <a:defRPr sz="2100" b="0" i="0" u="none" strike="noStrike" kern="0" cap="none" spc="0" baseline="0">
                <a:solidFill>
                  <a:srgbClr val="192C31"/>
                </a:solidFill>
                <a:uFillTx/>
                <a:latin typeface="DejaVu Sans"/>
                <a:ea typeface="DejaVu Sans"/>
                <a:cs typeface="DejaVu Sans"/>
              </a:defRPr>
            </a:pPr>
            <a:r>
              <a:rPr lang="en-US" sz="2000" b="1" i="0" u="none" strike="noStrike" kern="1200" cap="none" spc="0" baseline="0">
                <a:solidFill>
                  <a:srgbClr val="192C31"/>
                </a:solidFill>
                <a:uFillTx/>
                <a:latin typeface="DejaVu Sans"/>
                <a:ea typeface="Calibri"/>
                <a:cs typeface="Calibri"/>
              </a:rPr>
              <a:t>Samarbetet:</a:t>
            </a:r>
            <a:r>
              <a:rPr lang="en-US" sz="2000" b="0" i="0" u="none" strike="noStrike" kern="1200" cap="none" spc="0" baseline="0">
                <a:solidFill>
                  <a:srgbClr val="192C31"/>
                </a:solidFill>
                <a:uFillTx/>
                <a:latin typeface="DejaVu Sans"/>
                <a:ea typeface="Calibri"/>
                <a:cs typeface="Calibri"/>
              </a:rPr>
              <a:t> hjälper lagkamraten till eller sparar hen sina kort?</a:t>
            </a:r>
            <a:endParaRPr lang="sv-SE" sz="2000" b="0" i="0" u="none" strike="noStrike" kern="1200" cap="none" spc="0" baseline="0">
              <a:solidFill>
                <a:srgbClr val="192C31"/>
              </a:solidFill>
              <a:uFillTx/>
              <a:latin typeface="DejaVu Sans"/>
              <a:ea typeface="Calibri"/>
              <a:cs typeface="Calibri"/>
            </a:endParaRPr>
          </a:p>
          <a:p>
            <a:pPr marL="0" marR="0" lvl="0" indent="0" algn="l" defTabSz="914400" rtl="0" fontAlgn="auto" hangingPunct="1">
              <a:lnSpc>
                <a:spcPct val="100000"/>
              </a:lnSpc>
              <a:spcBef>
                <a:spcPts val="0"/>
              </a:spcBef>
              <a:spcAft>
                <a:spcPts val="0"/>
              </a:spcAft>
              <a:buNone/>
              <a:tabLst/>
              <a:defRPr sz="2100" b="0" i="0" u="none" strike="noStrike" kern="0" cap="none" spc="0" baseline="0">
                <a:solidFill>
                  <a:srgbClr val="192C31"/>
                </a:solidFill>
                <a:uFillTx/>
                <a:latin typeface="DejaVu Sans"/>
                <a:ea typeface="DejaVu Sans"/>
                <a:cs typeface="DejaVu Sans"/>
              </a:defRPr>
            </a:pPr>
            <a:endParaRPr lang="en-US" sz="2000" b="0" i="0" u="none" strike="noStrike" kern="1200" cap="none" spc="0" baseline="0">
              <a:solidFill>
                <a:srgbClr val="192C31"/>
              </a:solidFill>
              <a:uFillTx/>
              <a:latin typeface="DejaVu Sans"/>
              <a:ea typeface="Calibri"/>
              <a:cs typeface="Calibri"/>
            </a:endParaRPr>
          </a:p>
        </p:txBody>
      </p:sp>
      <p:sp>
        <p:nvSpPr>
          <p:cNvPr id="23" name="3–5 GRUNDREGLER">
            <a:extLst>
              <a:ext uri="{FF2B5EF4-FFF2-40B4-BE49-F238E27FC236}">
                <a16:creationId xmlns:a16="http://schemas.microsoft.com/office/drawing/2014/main" id="{AAD2C400-72FB-BF74-EE78-FE409F7F0041}"/>
              </a:ext>
            </a:extLst>
          </p:cNvPr>
          <p:cNvSpPr/>
          <p:nvPr/>
        </p:nvSpPr>
        <p:spPr>
          <a:xfrm>
            <a:off x="7810503" y="5800725"/>
            <a:ext cx="6972299" cy="400050"/>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725" b="1" i="0" u="none" strike="noStrike" kern="0" cap="none" spc="0" baseline="0">
                <a:solidFill>
                  <a:srgbClr val="79549E"/>
                </a:solidFill>
                <a:uFillTx/>
                <a:latin typeface="DejaVu Sans"/>
                <a:ea typeface="DejaVu Sans"/>
                <a:cs typeface="DejaVu Sans"/>
              </a:defRPr>
            </a:pPr>
            <a:r>
              <a:rPr lang="sv-SE" sz="1725" b="1" i="0" u="none" strike="noStrike" kern="1200" cap="none" spc="0" baseline="0">
                <a:solidFill>
                  <a:srgbClr val="79549E"/>
                </a:solidFill>
                <a:uFillTx/>
                <a:latin typeface="DejaVu Sans"/>
                <a:ea typeface="DejaVu Sans"/>
                <a:cs typeface="DejaVu Sans"/>
              </a:rPr>
              <a:t>3–5 GRUNDREGLER</a:t>
            </a:r>
          </a:p>
        </p:txBody>
      </p:sp>
      <p:sp>
        <p:nvSpPr>
          <p:cNvPr id="24" name="3–5 GRUNDREGLER – skriv här">
            <a:extLst>
              <a:ext uri="{FF2B5EF4-FFF2-40B4-BE49-F238E27FC236}">
                <a16:creationId xmlns:a16="http://schemas.microsoft.com/office/drawing/2014/main" id="{EF56B726-F78A-1245-706C-9F9EB09501B9}"/>
              </a:ext>
            </a:extLst>
          </p:cNvPr>
          <p:cNvSpPr/>
          <p:nvPr/>
        </p:nvSpPr>
        <p:spPr>
          <a:xfrm>
            <a:off x="7810503" y="6188073"/>
            <a:ext cx="6896103" cy="2019296"/>
          </a:xfrm>
          <a:prstGeom prst="rect">
            <a:avLst/>
          </a:prstGeom>
          <a:solidFill>
            <a:srgbClr val="FFFFFF"/>
          </a:solidFill>
          <a:ln w="14292" cap="flat">
            <a:solidFill>
              <a:srgbClr val="CBD2CF"/>
            </a:solidFill>
            <a:prstDash val="solid"/>
            <a:miter/>
          </a:ln>
        </p:spPr>
        <p:txBody>
          <a:bodyPr vert="horz" wrap="square" lIns="152403" tIns="114300" rIns="152403" bIns="114300" anchor="t" anchorCtr="0" compatLnSpc="1">
            <a:noAutofit/>
          </a:bodyPr>
          <a:lstStyle/>
          <a:p>
            <a:pPr marL="228600" marR="0" lvl="0" indent="-228600" algn="l" defTabSz="914400" rtl="0" fontAlgn="auto" hangingPunct="1">
              <a:lnSpc>
                <a:spcPct val="100000"/>
              </a:lnSpc>
              <a:spcBef>
                <a:spcPts val="0"/>
              </a:spcBef>
              <a:spcAft>
                <a:spcPts val="0"/>
              </a:spcAft>
              <a:buSzPct val="100000"/>
              <a:buFont typeface=""/>
              <a:buChar char="•"/>
              <a:tabLst/>
              <a:defRPr sz="1800" b="0" i="0" u="none" strike="noStrike" kern="0" cap="none" spc="0" baseline="0">
                <a:solidFill>
                  <a:srgbClr val="000000"/>
                </a:solidFill>
                <a:uFillTx/>
              </a:defRPr>
            </a:pPr>
            <a:r>
              <a:rPr lang="sv-SE" sz="1400" b="1" i="0" u="none" strike="noStrike" kern="1200" cap="none" spc="0" baseline="0">
                <a:solidFill>
                  <a:srgbClr val="000000"/>
                </a:solidFill>
                <a:uFillTx/>
                <a:latin typeface="Calibri"/>
                <a:ea typeface="Calibri"/>
                <a:cs typeface="Calibri"/>
              </a:rPr>
              <a:t>Start:</a:t>
            </a:r>
            <a:r>
              <a:rPr lang="sv-SE" sz="1400" b="0" i="0" u="none" strike="noStrike" kern="1200" cap="none" spc="0" baseline="0">
                <a:solidFill>
                  <a:srgbClr val="000000"/>
                </a:solidFill>
                <a:uFillTx/>
                <a:latin typeface="Calibri"/>
                <a:ea typeface="Calibri"/>
                <a:cs typeface="Calibri"/>
              </a:rPr>
              <a:t> alla får tio kort och tre liv. Före starten får man byta kort högst två gånger, max två kort per byte.</a:t>
            </a:r>
          </a:p>
          <a:p>
            <a:pPr marL="228600" marR="0" lvl="0" indent="-228600" algn="l" defTabSz="914400" rtl="0" fontAlgn="auto" hangingPunct="1">
              <a:lnSpc>
                <a:spcPct val="100000"/>
              </a:lnSpc>
              <a:spcBef>
                <a:spcPts val="0"/>
              </a:spcBef>
              <a:spcAft>
                <a:spcPts val="0"/>
              </a:spcAft>
              <a:buSzPct val="100000"/>
              <a:buFont typeface=""/>
              <a:buChar char="•"/>
              <a:tabLst/>
              <a:defRPr sz="1800" b="0" i="0" u="none" strike="noStrike" kern="0" cap="none" spc="0" baseline="0">
                <a:solidFill>
                  <a:srgbClr val="000000"/>
                </a:solidFill>
                <a:uFillTx/>
              </a:defRPr>
            </a:pPr>
            <a:r>
              <a:rPr lang="sv-SE" sz="1400" b="1" i="0" u="none" strike="noStrike" kern="1200" cap="none" spc="0" baseline="0">
                <a:solidFill>
                  <a:srgbClr val="000000"/>
                </a:solidFill>
                <a:uFillTx/>
                <a:latin typeface="Calibri"/>
                <a:ea typeface="Calibri"/>
                <a:cs typeface="Calibri"/>
              </a:rPr>
              <a:t>Attack:</a:t>
            </a:r>
            <a:r>
              <a:rPr lang="sv-SE" sz="1400" b="0" i="0" u="none" strike="noStrike" kern="1200" cap="none" spc="0" baseline="0">
                <a:solidFill>
                  <a:srgbClr val="000000"/>
                </a:solidFill>
                <a:uFillTx/>
                <a:latin typeface="Calibri"/>
                <a:ea typeface="Calibri"/>
                <a:cs typeface="Calibri"/>
              </a:rPr>
              <a:t> laget väljer en motståndare att attackera. Varje spelare får spela högst ett attackkort per strid.</a:t>
            </a:r>
          </a:p>
          <a:p>
            <a:pPr marL="228600" marR="0" lvl="0" indent="-228600" algn="l" defTabSz="914400" rtl="0" fontAlgn="auto" hangingPunct="1">
              <a:lnSpc>
                <a:spcPct val="100000"/>
              </a:lnSpc>
              <a:spcBef>
                <a:spcPts val="0"/>
              </a:spcBef>
              <a:spcAft>
                <a:spcPts val="0"/>
              </a:spcAft>
              <a:buSzPct val="100000"/>
              <a:buFont typeface=""/>
              <a:buChar char="•"/>
              <a:tabLst/>
              <a:defRPr sz="1800" b="0" i="0" u="none" strike="noStrike" kern="0" cap="none" spc="0" baseline="0">
                <a:solidFill>
                  <a:srgbClr val="000000"/>
                </a:solidFill>
                <a:uFillTx/>
              </a:defRPr>
            </a:pPr>
            <a:r>
              <a:rPr lang="sv-SE" sz="1400" b="1" i="0" u="none" strike="noStrike" kern="1200" cap="none" spc="0" baseline="0">
                <a:solidFill>
                  <a:srgbClr val="000000"/>
                </a:solidFill>
                <a:uFillTx/>
                <a:latin typeface="Calibri"/>
                <a:ea typeface="Calibri"/>
                <a:cs typeface="Calibri"/>
              </a:rPr>
              <a:t>Försvar:</a:t>
            </a:r>
            <a:r>
              <a:rPr lang="sv-SE" sz="1400" b="0" i="0" u="none" strike="noStrike" kern="1200" cap="none" spc="0" baseline="0">
                <a:solidFill>
                  <a:srgbClr val="000000"/>
                </a:solidFill>
                <a:uFillTx/>
                <a:latin typeface="Calibri"/>
                <a:ea typeface="Calibri"/>
                <a:cs typeface="Calibri"/>
              </a:rPr>
              <a:t> den angripna spelaren försvarar sig med kort. Lagkamrater får hjälpa till med attack eller försvar.</a:t>
            </a:r>
          </a:p>
          <a:p>
            <a:pPr marL="228600" marR="0" lvl="0" indent="-228600" algn="l" defTabSz="914400" rtl="0" fontAlgn="auto" hangingPunct="1">
              <a:lnSpc>
                <a:spcPct val="100000"/>
              </a:lnSpc>
              <a:spcBef>
                <a:spcPts val="0"/>
              </a:spcBef>
              <a:spcAft>
                <a:spcPts val="0"/>
              </a:spcAft>
              <a:buSzPct val="100000"/>
              <a:buFont typeface=""/>
              <a:buChar char="•"/>
              <a:tabLst/>
              <a:defRPr sz="1800" b="0" i="0" u="none" strike="noStrike" kern="0" cap="none" spc="0" baseline="0">
                <a:solidFill>
                  <a:srgbClr val="000000"/>
                </a:solidFill>
                <a:uFillTx/>
              </a:defRPr>
            </a:pPr>
            <a:r>
              <a:rPr lang="sv-SE" sz="1400" b="1" i="0" u="none" strike="noStrike" kern="1200" cap="none" spc="0" baseline="0">
                <a:solidFill>
                  <a:srgbClr val="000000"/>
                </a:solidFill>
                <a:uFillTx/>
                <a:latin typeface="Calibri"/>
                <a:ea typeface="Calibri"/>
                <a:cs typeface="Calibri"/>
              </a:rPr>
              <a:t>Efter striden:</a:t>
            </a:r>
            <a:r>
              <a:rPr lang="sv-SE" sz="1400" b="0" i="0" u="none" strike="noStrike" kern="1200" cap="none" spc="0" baseline="0">
                <a:solidFill>
                  <a:srgbClr val="000000"/>
                </a:solidFill>
                <a:uFillTx/>
                <a:latin typeface="Calibri"/>
                <a:ea typeface="Calibri"/>
                <a:cs typeface="Calibri"/>
              </a:rPr>
              <a:t> misslyckat försvar kostar ett liv. Spelade kort slängs och ersätts inte automatiskt. Vid lyckat försvar får det andra laget attackera.</a:t>
            </a:r>
          </a:p>
          <a:p>
            <a:pPr marL="228600" marR="0" lvl="0" indent="-228600" algn="l" defTabSz="914400" rtl="0" fontAlgn="auto" hangingPunct="1">
              <a:lnSpc>
                <a:spcPct val="100000"/>
              </a:lnSpc>
              <a:spcBef>
                <a:spcPts val="0"/>
              </a:spcBef>
              <a:spcAft>
                <a:spcPts val="0"/>
              </a:spcAft>
              <a:buSzPct val="100000"/>
              <a:buFont typeface=""/>
              <a:buChar char="•"/>
              <a:tabLst/>
              <a:defRPr sz="1800" b="0" i="0" u="none" strike="noStrike" kern="0" cap="none" spc="0" baseline="0">
                <a:solidFill>
                  <a:srgbClr val="000000"/>
                </a:solidFill>
                <a:uFillTx/>
              </a:defRPr>
            </a:pPr>
            <a:r>
              <a:rPr lang="sv-SE" sz="1400" b="1" i="0" u="none" strike="noStrike" kern="1200" cap="none" spc="0" baseline="0">
                <a:solidFill>
                  <a:srgbClr val="000000"/>
                </a:solidFill>
                <a:uFillTx/>
                <a:latin typeface="Calibri"/>
                <a:ea typeface="Calibri"/>
                <a:cs typeface="Calibri"/>
              </a:rPr>
              <a:t>Vinst:</a:t>
            </a:r>
            <a:r>
              <a:rPr lang="sv-SE" sz="1400" b="0" i="0" u="none" strike="noStrike" kern="1200" cap="none" spc="0" baseline="0">
                <a:solidFill>
                  <a:srgbClr val="000000"/>
                </a:solidFill>
                <a:uFillTx/>
                <a:latin typeface="Calibri"/>
                <a:ea typeface="Calibri"/>
                <a:cs typeface="Calibri"/>
              </a:rPr>
              <a:t> spelare med noll liv är utslagna och får inte hjälpa till. När alla i ett lag är utslagna faller deras borg och motståndarlaget vinner</a:t>
            </a:r>
            <a:endParaRPr lang="sv-SE" sz="1400" b="0" i="0" u="none" strike="noStrike" kern="1200" cap="none" spc="0" baseline="0">
              <a:solidFill>
                <a:srgbClr val="192C31"/>
              </a:solidFill>
              <a:uFillTx/>
              <a:latin typeface="DejaVu Sans"/>
              <a:ea typeface="DejaVu Sans"/>
              <a:cs typeface="DejaVu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20">
    <p:bg>
      <p:bgPr>
        <a:solidFill>
          <a:srgbClr val="F7F8F4"/>
        </a:solidFill>
        <a:effectLst/>
      </p:bgPr>
    </p:bg>
    <p:spTree>
      <p:nvGrpSpPr>
        <p:cNvPr id="1" name=""/>
        <p:cNvGrpSpPr/>
        <p:nvPr/>
      </p:nvGrpSpPr>
      <p:grpSpPr>
        <a:xfrm>
          <a:off x="0" y="0"/>
          <a:ext cx="0" cy="0"/>
          <a:chOff x="0" y="0"/>
          <a:chExt cx="0" cy="0"/>
        </a:xfrm>
      </p:grpSpPr>
      <p:sp>
        <p:nvSpPr>
          <p:cNvPr id="2" name="Rectangle 18">
            <a:extLst>
              <a:ext uri="{FF2B5EF4-FFF2-40B4-BE49-F238E27FC236}">
                <a16:creationId xmlns:a16="http://schemas.microsoft.com/office/drawing/2014/main" id="{2B942D6D-F464-8050-B1D7-034B3EC72032}"/>
              </a:ext>
            </a:extLst>
          </p:cNvPr>
          <p:cNvSpPr/>
          <p:nvPr/>
        </p:nvSpPr>
        <p:spPr>
          <a:xfrm>
            <a:off x="0" y="0"/>
            <a:ext cx="15240003" cy="95253"/>
          </a:xfrm>
          <a:prstGeom prst="rect">
            <a:avLst/>
          </a:prstGeom>
          <a:solidFill>
            <a:srgbClr val="79549E"/>
          </a:solidFill>
          <a:ln w="14292" cap="flat">
            <a:solidFill>
              <a:srgbClr val="79549E"/>
            </a:solidFill>
            <a:prstDash val="solid"/>
            <a:miter/>
          </a:ln>
        </p:spPr>
        <p:txBody>
          <a:bodyPr lIns="0" tIns="0" rIns="0" bIns="0"/>
          <a:lstStyle/>
          <a:p>
            <a:endParaRPr lang="sv-SE"/>
          </a:p>
        </p:txBody>
      </p:sp>
      <p:sp>
        <p:nvSpPr>
          <p:cNvPr id="3" name="GRUPP 4 – ARBETSYTA">
            <a:extLst>
              <a:ext uri="{FF2B5EF4-FFF2-40B4-BE49-F238E27FC236}">
                <a16:creationId xmlns:a16="http://schemas.microsoft.com/office/drawing/2014/main" id="{89BC1A7B-9409-723D-2248-1D87E33FF5CE}"/>
              </a:ext>
            </a:extLst>
          </p:cNvPr>
          <p:cNvSpPr/>
          <p:nvPr/>
        </p:nvSpPr>
        <p:spPr>
          <a:xfrm>
            <a:off x="457200" y="295278"/>
            <a:ext cx="13525503" cy="304796"/>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650" b="1" i="0" u="none" strike="noStrike" kern="0" cap="none" spc="0" baseline="0">
                <a:solidFill>
                  <a:srgbClr val="79549E"/>
                </a:solidFill>
                <a:uFillTx/>
                <a:latin typeface="DejaVu Sans"/>
                <a:ea typeface="DejaVu Sans"/>
                <a:cs typeface="DejaVu Sans"/>
              </a:defRPr>
            </a:pPr>
            <a:r>
              <a:rPr lang="sv-SE" sz="1650" b="1" i="0" u="none" strike="noStrike" kern="1200" cap="none" spc="0" baseline="0">
                <a:solidFill>
                  <a:srgbClr val="79549E"/>
                </a:solidFill>
                <a:uFillTx/>
                <a:latin typeface="DejaVu Sans"/>
                <a:ea typeface="DejaVu Sans"/>
                <a:cs typeface="DejaVu Sans"/>
              </a:rPr>
              <a:t>GRUPP 4 – ARBETSYTA</a:t>
            </a:r>
          </a:p>
        </p:txBody>
      </p:sp>
      <p:sp>
        <p:nvSpPr>
          <p:cNvPr id="4" name="VILKA KORT BEHÖVER SPELET?">
            <a:extLst>
              <a:ext uri="{FF2B5EF4-FFF2-40B4-BE49-F238E27FC236}">
                <a16:creationId xmlns:a16="http://schemas.microsoft.com/office/drawing/2014/main" id="{1F3A2CD3-6BCE-7990-24BE-A8BD830F40A6}"/>
              </a:ext>
            </a:extLst>
          </p:cNvPr>
          <p:cNvSpPr/>
          <p:nvPr/>
        </p:nvSpPr>
        <p:spPr>
          <a:xfrm>
            <a:off x="457200" y="781053"/>
            <a:ext cx="14325603" cy="704846"/>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3600" b="1" i="0" u="none" strike="noStrike" kern="0" cap="none" spc="0" baseline="0">
                <a:solidFill>
                  <a:srgbClr val="192C31"/>
                </a:solidFill>
                <a:uFillTx/>
                <a:latin typeface="DejaVu Sans"/>
                <a:ea typeface="DejaVu Sans"/>
                <a:cs typeface="DejaVu Sans"/>
              </a:defRPr>
            </a:pPr>
            <a:r>
              <a:rPr lang="sv-SE" sz="3600" b="1" i="0" u="none" strike="noStrike" kern="1200" cap="none" spc="0" baseline="0">
                <a:solidFill>
                  <a:srgbClr val="192C31"/>
                </a:solidFill>
                <a:uFillTx/>
                <a:latin typeface="DejaVu Sans"/>
                <a:ea typeface="DejaVu Sans"/>
                <a:cs typeface="DejaVu Sans"/>
              </a:rPr>
              <a:t>VILKA KORT BEHÖVER SPELET?</a:t>
            </a:r>
          </a:p>
        </p:txBody>
      </p:sp>
      <p:sp>
        <p:nvSpPr>
          <p:cNvPr id="5" name="C  KORT     •     Varje kort är en redigerbar form. Markera ">
            <a:extLst>
              <a:ext uri="{FF2B5EF4-FFF2-40B4-BE49-F238E27FC236}">
                <a16:creationId xmlns:a16="http://schemas.microsoft.com/office/drawing/2014/main" id="{BEDA05E3-BE79-DAFE-4CCB-3A18B5404E87}"/>
              </a:ext>
            </a:extLst>
          </p:cNvPr>
          <p:cNvSpPr/>
          <p:nvPr/>
        </p:nvSpPr>
        <p:spPr>
          <a:xfrm>
            <a:off x="457200" y="8162921"/>
            <a:ext cx="13525503" cy="257175"/>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350" b="0" i="0" u="none" strike="noStrike" kern="0" cap="none" spc="0" baseline="0">
                <a:solidFill>
                  <a:srgbClr val="58686A"/>
                </a:solidFill>
                <a:uFillTx/>
                <a:latin typeface="DejaVu Sans"/>
                <a:ea typeface="DejaVu Sans"/>
                <a:cs typeface="DejaVu Sans"/>
              </a:defRPr>
            </a:pPr>
            <a:r>
              <a:rPr lang="sv-SE" sz="1350" b="0" i="0" u="none" strike="noStrike" kern="1200" cap="none" spc="0" baseline="0">
                <a:solidFill>
                  <a:srgbClr val="58686A"/>
                </a:solidFill>
                <a:uFillTx/>
                <a:latin typeface="DejaVu Sans"/>
                <a:ea typeface="DejaVu Sans"/>
                <a:cs typeface="DejaVu Sans"/>
              </a:rPr>
              <a:t>C  KORT     •     Varje kort är en redigerbar form. Markera och duplicera för fler kort.</a:t>
            </a:r>
          </a:p>
        </p:txBody>
      </p:sp>
      <p:sp>
        <p:nvSpPr>
          <p:cNvPr id="6" name="20">
            <a:extLst>
              <a:ext uri="{FF2B5EF4-FFF2-40B4-BE49-F238E27FC236}">
                <a16:creationId xmlns:a16="http://schemas.microsoft.com/office/drawing/2014/main" id="{5A1F3FB2-C55F-7A33-8DA6-56319300F362}"/>
              </a:ext>
            </a:extLst>
          </p:cNvPr>
          <p:cNvSpPr/>
          <p:nvPr/>
        </p:nvSpPr>
        <p:spPr>
          <a:xfrm>
            <a:off x="14192246" y="8096253"/>
            <a:ext cx="571500" cy="333371"/>
          </a:xfrm>
          <a:prstGeom prst="rect">
            <a:avLst/>
          </a:prstGeom>
          <a:noFill/>
          <a:ln cap="flat">
            <a:noFill/>
            <a:prstDash val="solid"/>
          </a:ln>
        </p:spPr>
        <p:txBody>
          <a:bodyPr vert="horz" wrap="square" lIns="0" tIns="0" rIns="0" bIns="0" anchor="t" anchorCtr="0" compatLnSpc="1">
            <a:noAutofit/>
          </a:bodyPr>
          <a:lstStyle/>
          <a:p>
            <a:pPr marL="0" marR="0" lvl="0" indent="0" algn="r" defTabSz="914400" rtl="0" fontAlgn="auto" hangingPunct="1">
              <a:lnSpc>
                <a:spcPct val="100000"/>
              </a:lnSpc>
              <a:spcBef>
                <a:spcPts val="0"/>
              </a:spcBef>
              <a:spcAft>
                <a:spcPts val="0"/>
              </a:spcAft>
              <a:buNone/>
              <a:tabLst/>
              <a:defRPr sz="1650" b="1" i="0" u="none" strike="noStrike" kern="0" cap="none" spc="0" baseline="0">
                <a:solidFill>
                  <a:srgbClr val="79549E"/>
                </a:solidFill>
                <a:uFillTx/>
                <a:latin typeface="DejaVu Sans"/>
                <a:ea typeface="DejaVu Sans"/>
                <a:cs typeface="DejaVu Sans"/>
              </a:defRPr>
            </a:pPr>
            <a:r>
              <a:rPr lang="sv-SE" sz="1650" b="1" i="0" u="none" strike="noStrike" kern="1200" cap="none" spc="0" baseline="0">
                <a:solidFill>
                  <a:srgbClr val="79549E"/>
                </a:solidFill>
                <a:uFillTx/>
                <a:latin typeface="DejaVu Sans"/>
                <a:ea typeface="DejaVu Sans"/>
                <a:cs typeface="DejaVu Sans"/>
              </a:rPr>
              <a:t>20</a:t>
            </a:r>
          </a:p>
        </p:txBody>
      </p:sp>
      <p:sp>
        <p:nvSpPr>
          <p:cNvPr id="7" name="Redigerbar kortmall 1">
            <a:extLst>
              <a:ext uri="{FF2B5EF4-FFF2-40B4-BE49-F238E27FC236}">
                <a16:creationId xmlns:a16="http://schemas.microsoft.com/office/drawing/2014/main" id="{E14C7121-B655-69C8-6B83-94C74110F528}"/>
              </a:ext>
            </a:extLst>
          </p:cNvPr>
          <p:cNvSpPr/>
          <p:nvPr/>
        </p:nvSpPr>
        <p:spPr>
          <a:xfrm>
            <a:off x="457200" y="1685925"/>
            <a:ext cx="3543299" cy="2895603"/>
          </a:xfrm>
          <a:prstGeom prst="rect">
            <a:avLst/>
          </a:prstGeom>
          <a:solidFill>
            <a:srgbClr val="FFFFFF"/>
          </a:solidFill>
          <a:ln w="14292" cap="flat">
            <a:solidFill>
              <a:srgbClr val="79549E"/>
            </a:solidFill>
            <a:prstDash val="solid"/>
            <a:miter/>
          </a:ln>
        </p:spPr>
        <p:txBody>
          <a:bodyPr vert="horz" wrap="square" lIns="190496" tIns="152403" rIns="190496" bIns="152403" anchor="t" anchorCtr="0" compatLnSpc="1">
            <a:noAutofit/>
          </a:bodyPr>
          <a:lstStyle/>
          <a:p>
            <a:pPr marL="0" marR="0" lvl="0" indent="0" algn="l" defTabSz="914400" rtl="0" fontAlgn="auto" hangingPunct="1">
              <a:lnSpc>
                <a:spcPct val="100000"/>
              </a:lnSpc>
              <a:spcBef>
                <a:spcPts val="0"/>
              </a:spcBef>
              <a:spcAft>
                <a:spcPts val="0"/>
              </a:spcAft>
              <a:buNone/>
              <a:tabLst/>
              <a:defRPr sz="1575" b="0" i="0" u="none" strike="noStrike" kern="0" cap="none" spc="0" baseline="0">
                <a:solidFill>
                  <a:srgbClr val="58686A"/>
                </a:solidFill>
                <a:uFillTx/>
                <a:latin typeface="DejaVu Sans"/>
                <a:ea typeface="DejaVu Sans"/>
                <a:cs typeface="DejaVu Sans"/>
              </a:defRPr>
            </a:pPr>
            <a:r>
              <a:rPr lang="sv-SE" sz="1550" b="0" i="0" u="none" strike="noStrike" kern="1200" cap="none" spc="0" baseline="0">
                <a:solidFill>
                  <a:srgbClr val="58686A"/>
                </a:solidFill>
                <a:uFillTx/>
                <a:latin typeface="-webkit-standard"/>
                <a:ea typeface="DejaVu Sans"/>
                <a:cs typeface="DejaVu Sans"/>
              </a:rPr>
              <a:t>Stormning – attack 3</a:t>
            </a:r>
            <a:endParaRPr lang="sv-SE" sz="1575" b="0" i="0" u="none" strike="noStrike" kern="1200" cap="none" spc="0" baseline="0">
              <a:solidFill>
                <a:srgbClr val="58686A"/>
              </a:solidFill>
              <a:uFillTx/>
              <a:latin typeface="DejaVu Sans"/>
              <a:ea typeface="DejaVu Sans"/>
              <a:cs typeface="DejaVu Sans"/>
            </a:endParaRP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sv-SE" sz="1575" b="0" i="0" u="none" strike="noStrike" kern="1200" cap="none" spc="0" baseline="0">
              <a:solidFill>
                <a:srgbClr val="58686A"/>
              </a:solidFill>
              <a:uFillTx/>
              <a:latin typeface="DejaVu Sans"/>
              <a:ea typeface="DejaVu Sans"/>
              <a:cs typeface="DejaVu Sans"/>
            </a:endParaRPr>
          </a:p>
          <a:p>
            <a:pPr marL="0" marR="0" lvl="0" indent="0" algn="l" defTabSz="914400" rtl="0" fontAlgn="auto" hangingPunct="1">
              <a:lnSpc>
                <a:spcPct val="100000"/>
              </a:lnSpc>
              <a:spcBef>
                <a:spcPts val="0"/>
              </a:spcBef>
              <a:spcAft>
                <a:spcPts val="0"/>
              </a:spcAft>
              <a:buNone/>
              <a:tabLst/>
              <a:defRPr sz="1575" b="0" i="0" u="none" strike="noStrike" kern="0" cap="none" spc="0" baseline="0">
                <a:solidFill>
                  <a:srgbClr val="58686A"/>
                </a:solidFill>
                <a:uFillTx/>
                <a:latin typeface="DejaVu Sans"/>
                <a:ea typeface="DejaVu Sans"/>
                <a:cs typeface="DejaVu Sans"/>
              </a:defRPr>
            </a:pPr>
            <a:r>
              <a:rPr lang="sv-SE" sz="1550" b="0" i="0" u="none" strike="noStrike" kern="1200" cap="none" spc="0" baseline="0">
                <a:solidFill>
                  <a:srgbClr val="000000"/>
                </a:solidFill>
                <a:uFillTx/>
                <a:latin typeface="-webkit-standard"/>
                <a:ea typeface="DejaVu Sans"/>
                <a:cs typeface="DejaVu Sans"/>
              </a:rPr>
              <a:t>Ditt lag attackerar.</a:t>
            </a:r>
            <a:endParaRPr lang="sv-SE" sz="1575" b="0" i="0" u="none" strike="noStrike" kern="1200" cap="none" spc="0" baseline="0">
              <a:solidFill>
                <a:srgbClr val="58686A"/>
              </a:solidFill>
              <a:uFillTx/>
              <a:latin typeface="DejaVu Sans"/>
              <a:ea typeface="DejaVu Sans"/>
              <a:cs typeface="DejaVu Sans"/>
            </a:endParaRPr>
          </a:p>
          <a:p>
            <a:pPr marL="0" marR="0" lvl="0" indent="0" algn="l" defTabSz="914400" rtl="0" fontAlgn="auto" hangingPunct="1">
              <a:lnSpc>
                <a:spcPct val="100000"/>
              </a:lnSpc>
              <a:spcBef>
                <a:spcPts val="0"/>
              </a:spcBef>
              <a:spcAft>
                <a:spcPts val="0"/>
              </a:spcAft>
              <a:buNone/>
              <a:tabLst/>
              <a:defRPr sz="1575" b="0" i="0" u="none" strike="noStrike" kern="0" cap="none" spc="0" baseline="0">
                <a:solidFill>
                  <a:srgbClr val="58686A"/>
                </a:solidFill>
                <a:uFillTx/>
                <a:latin typeface="DejaVu Sans"/>
                <a:ea typeface="DejaVu Sans"/>
                <a:cs typeface="DejaVu Sans"/>
              </a:defRPr>
            </a:pPr>
            <a:endParaRPr lang="sv-SE" sz="1575" b="0" i="0" u="none" strike="noStrike" kern="1200" cap="none" spc="0" baseline="0">
              <a:solidFill>
                <a:srgbClr val="58686A"/>
              </a:solidFill>
              <a:uFillTx/>
              <a:latin typeface="DejaVu Sans"/>
              <a:ea typeface="DejaVu Sans"/>
              <a:cs typeface="DejaVu Sans"/>
            </a:endParaRPr>
          </a:p>
          <a:p>
            <a:pPr marL="0" marR="0" lvl="0" indent="0" algn="l" defTabSz="914400" rtl="0" fontAlgn="auto" hangingPunct="1">
              <a:lnSpc>
                <a:spcPct val="100000"/>
              </a:lnSpc>
              <a:spcBef>
                <a:spcPts val="0"/>
              </a:spcBef>
              <a:spcAft>
                <a:spcPts val="0"/>
              </a:spcAft>
              <a:buNone/>
              <a:tabLst/>
              <a:defRPr sz="1575" b="0" i="0" u="none" strike="noStrike" kern="0" cap="none" spc="0" baseline="0">
                <a:solidFill>
                  <a:srgbClr val="58686A"/>
                </a:solidFill>
                <a:uFillTx/>
                <a:latin typeface="DejaVu Sans"/>
                <a:ea typeface="DejaVu Sans"/>
                <a:cs typeface="DejaVu Sans"/>
              </a:defRPr>
            </a:pPr>
            <a:r>
              <a:rPr lang="sv-SE" sz="1550" b="0" i="0" u="none" strike="noStrike" kern="1200" cap="none" spc="0" baseline="0">
                <a:solidFill>
                  <a:srgbClr val="000000"/>
                </a:solidFill>
                <a:uFillTx/>
                <a:latin typeface="DejaVu Sans"/>
                <a:ea typeface="Calibri"/>
                <a:cs typeface="Calibri"/>
              </a:rPr>
              <a:t>Lägg kortet mot den valda motståndaren.</a:t>
            </a:r>
            <a:endParaRPr lang="sv-SE" sz="1575" b="0" i="0" u="none" strike="noStrike" kern="1200" cap="none" spc="0" baseline="0">
              <a:solidFill>
                <a:srgbClr val="58686A"/>
              </a:solidFill>
              <a:uFillTx/>
              <a:latin typeface="DejaVu Sans"/>
              <a:ea typeface="DejaVu Sans"/>
              <a:cs typeface="DejaVu Sans"/>
            </a:endParaRPr>
          </a:p>
          <a:p>
            <a:pPr marL="0" marR="0" lvl="0" indent="0" algn="l" defTabSz="914400" rtl="0" fontAlgn="auto" hangingPunct="1">
              <a:lnSpc>
                <a:spcPct val="100000"/>
              </a:lnSpc>
              <a:spcBef>
                <a:spcPts val="0"/>
              </a:spcBef>
              <a:spcAft>
                <a:spcPts val="0"/>
              </a:spcAft>
              <a:buNone/>
              <a:tabLst/>
              <a:defRPr sz="1575" b="0" i="0" u="none" strike="noStrike" kern="0" cap="none" spc="0" baseline="0">
                <a:solidFill>
                  <a:srgbClr val="58686A"/>
                </a:solidFill>
                <a:uFillTx/>
                <a:latin typeface="DejaVu Sans"/>
                <a:ea typeface="DejaVu Sans"/>
                <a:cs typeface="DejaVu Sans"/>
              </a:defRPr>
            </a:pPr>
            <a:endParaRPr lang="sv-SE" sz="1575" b="0" i="0" u="none" strike="noStrike" kern="1200" cap="none" spc="0" baseline="0">
              <a:solidFill>
                <a:srgbClr val="58686A"/>
              </a:solidFill>
              <a:uFillTx/>
              <a:latin typeface="DejaVu Sans"/>
              <a:ea typeface="DejaVu Sans"/>
              <a:cs typeface="DejaVu Sans"/>
            </a:endParaRP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sv-SE" sz="1575" b="0" i="0" u="none" strike="noStrike" kern="1200" cap="none" spc="0" baseline="0">
              <a:solidFill>
                <a:srgbClr val="58686A"/>
              </a:solidFill>
              <a:uFillTx/>
              <a:latin typeface="DejaVu Sans"/>
              <a:ea typeface="DejaVu Sans"/>
              <a:cs typeface="DejaVu Sans"/>
            </a:endParaRPr>
          </a:p>
          <a:p>
            <a:pPr marL="0" marR="0" lvl="0" indent="0" algn="l" defTabSz="914400" rtl="0" fontAlgn="auto" hangingPunct="1">
              <a:lnSpc>
                <a:spcPct val="100000"/>
              </a:lnSpc>
              <a:spcBef>
                <a:spcPts val="0"/>
              </a:spcBef>
              <a:spcAft>
                <a:spcPts val="0"/>
              </a:spcAft>
              <a:buNone/>
              <a:tabLst/>
              <a:defRPr sz="1575" b="0" i="0" u="none" strike="noStrike" kern="0" cap="none" spc="0" baseline="0">
                <a:solidFill>
                  <a:srgbClr val="58686A"/>
                </a:solidFill>
                <a:uFillTx/>
                <a:latin typeface="DejaVu Sans"/>
                <a:ea typeface="DejaVu Sans"/>
                <a:cs typeface="DejaVu Sans"/>
              </a:defRPr>
            </a:pPr>
            <a:r>
              <a:rPr lang="sv-SE" sz="1550" b="0" i="0" u="none" strike="noStrike" kern="1200" cap="none" spc="0" baseline="0">
                <a:solidFill>
                  <a:srgbClr val="000000"/>
                </a:solidFill>
                <a:uFillTx/>
                <a:latin typeface="-webkit-standard"/>
                <a:ea typeface="DejaVu Sans"/>
                <a:cs typeface="DejaVu Sans"/>
              </a:rPr>
              <a:t>Ökar lagets attackstyrka med 3.</a:t>
            </a:r>
            <a:endParaRPr lang="sv-SE" sz="1575" b="0" i="0" u="none" strike="noStrike" kern="1200" cap="none" spc="0" baseline="0">
              <a:solidFill>
                <a:srgbClr val="58686A"/>
              </a:solidFill>
              <a:uFillTx/>
              <a:latin typeface="DejaVu Sans"/>
              <a:ea typeface="DejaVu Sans"/>
              <a:cs typeface="DejaVu Sans"/>
            </a:endParaRPr>
          </a:p>
          <a:p>
            <a:pPr marL="0" marR="0" lvl="0" indent="0" algn="l" defTabSz="914400" rtl="0" fontAlgn="auto" hangingPunct="1">
              <a:lnSpc>
                <a:spcPct val="100000"/>
              </a:lnSpc>
              <a:spcBef>
                <a:spcPts val="0"/>
              </a:spcBef>
              <a:spcAft>
                <a:spcPts val="0"/>
              </a:spcAft>
              <a:buNone/>
              <a:tabLst/>
              <a:defRPr sz="1575" b="0" i="0" u="none" strike="noStrike" kern="0" cap="none" spc="0" baseline="0">
                <a:solidFill>
                  <a:srgbClr val="58686A"/>
                </a:solidFill>
                <a:uFillTx/>
                <a:latin typeface="DejaVu Sans"/>
                <a:ea typeface="DejaVu Sans"/>
                <a:cs typeface="DejaVu Sans"/>
              </a:defRPr>
            </a:pPr>
            <a:endParaRPr lang="sv-SE" sz="1575" b="0" i="0" u="none" strike="noStrike" kern="1200" cap="none" spc="0" baseline="0">
              <a:solidFill>
                <a:srgbClr val="58686A"/>
              </a:solidFill>
              <a:uFillTx/>
              <a:latin typeface="DejaVu Sans"/>
              <a:ea typeface="DejaVu Sans"/>
              <a:cs typeface="DejaVu Sans"/>
            </a:endParaRPr>
          </a:p>
        </p:txBody>
      </p:sp>
      <p:sp>
        <p:nvSpPr>
          <p:cNvPr id="8" name="Redigerbar kortmall 2">
            <a:extLst>
              <a:ext uri="{FF2B5EF4-FFF2-40B4-BE49-F238E27FC236}">
                <a16:creationId xmlns:a16="http://schemas.microsoft.com/office/drawing/2014/main" id="{57156892-AC93-1367-A8DF-F04145CDEC0C}"/>
              </a:ext>
            </a:extLst>
          </p:cNvPr>
          <p:cNvSpPr/>
          <p:nvPr/>
        </p:nvSpPr>
        <p:spPr>
          <a:xfrm>
            <a:off x="4248146" y="1685925"/>
            <a:ext cx="3543299" cy="2895603"/>
          </a:xfrm>
          <a:prstGeom prst="rect">
            <a:avLst/>
          </a:prstGeom>
          <a:solidFill>
            <a:srgbClr val="FFFFFF"/>
          </a:solidFill>
          <a:ln w="14292" cap="flat">
            <a:solidFill>
              <a:srgbClr val="79549E"/>
            </a:solidFill>
            <a:prstDash val="solid"/>
            <a:miter/>
          </a:ln>
        </p:spPr>
        <p:txBody>
          <a:bodyPr vert="horz" wrap="square" lIns="190496" tIns="152403" rIns="190496" bIns="152403" anchor="t" anchorCtr="0" compatLnSpc="1">
            <a:noAutofit/>
          </a:bodyPr>
          <a:lstStyle/>
          <a:p>
            <a:pPr marL="0" marR="0" lvl="0" indent="0" algn="l" defTabSz="914400" rtl="0" fontAlgn="auto" hangingPunct="1">
              <a:lnSpc>
                <a:spcPct val="100000"/>
              </a:lnSpc>
              <a:spcBef>
                <a:spcPts val="0"/>
              </a:spcBef>
              <a:spcAft>
                <a:spcPts val="0"/>
              </a:spcAft>
              <a:buNone/>
              <a:tabLst/>
              <a:defRPr sz="1575" b="0" i="0" u="none" strike="noStrike" kern="0" cap="none" spc="0" baseline="0">
                <a:solidFill>
                  <a:srgbClr val="58686A"/>
                </a:solidFill>
                <a:uFillTx/>
                <a:latin typeface="DejaVu Sans"/>
                <a:ea typeface="DejaVu Sans"/>
                <a:cs typeface="DejaVu Sans"/>
              </a:defRPr>
            </a:pPr>
            <a:r>
              <a:rPr lang="en-US" sz="1550" b="0" i="0" u="none" strike="noStrike" kern="1200" cap="none" spc="0" baseline="0">
                <a:solidFill>
                  <a:srgbClr val="000000"/>
                </a:solidFill>
                <a:uFillTx/>
                <a:latin typeface="-webkit-standard"/>
                <a:ea typeface="DejaVu Sans"/>
                <a:cs typeface="DejaVu Sans"/>
              </a:rPr>
              <a:t>Sköldmur – försvar 3</a:t>
            </a:r>
            <a:endParaRPr lang="en-US" sz="1575" b="0" i="0" u="none" strike="noStrike" kern="1200" cap="none" spc="0" baseline="0">
              <a:solidFill>
                <a:srgbClr val="58686A"/>
              </a:solidFill>
              <a:uFillTx/>
              <a:latin typeface="DejaVu Sans"/>
              <a:ea typeface="DejaVu Sans"/>
              <a:cs typeface="DejaVu Sans"/>
            </a:endParaRPr>
          </a:p>
          <a:p>
            <a:pPr marL="0" marR="0" lvl="0" indent="0" algn="l" defTabSz="914400" rtl="0" fontAlgn="auto" hangingPunct="1">
              <a:lnSpc>
                <a:spcPct val="100000"/>
              </a:lnSpc>
              <a:spcBef>
                <a:spcPts val="0"/>
              </a:spcBef>
              <a:spcAft>
                <a:spcPts val="0"/>
              </a:spcAft>
              <a:buNone/>
              <a:tabLst/>
              <a:defRPr sz="1575" b="0" i="0" u="none" strike="noStrike" kern="0" cap="none" spc="0" baseline="0">
                <a:solidFill>
                  <a:srgbClr val="58686A"/>
                </a:solidFill>
                <a:uFillTx/>
                <a:latin typeface="DejaVu Sans"/>
                <a:ea typeface="DejaVu Sans"/>
                <a:cs typeface="DejaVu Sans"/>
              </a:defRPr>
            </a:pPr>
            <a:endParaRPr lang="en-US" sz="1575" b="0" i="0" u="none" strike="noStrike" kern="1200" cap="none" spc="0" baseline="0">
              <a:solidFill>
                <a:srgbClr val="58686A"/>
              </a:solidFill>
              <a:uFillTx/>
              <a:latin typeface="DejaVu Sans"/>
              <a:ea typeface="DejaVu Sans"/>
              <a:cs typeface="DejaVu Sans"/>
            </a:endParaRP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575" b="0" i="0" u="none" strike="noStrike" kern="1200" cap="none" spc="0" baseline="0">
              <a:solidFill>
                <a:srgbClr val="58686A"/>
              </a:solidFill>
              <a:uFillTx/>
              <a:latin typeface="DejaVu Sans"/>
              <a:ea typeface="DejaVu Sans"/>
              <a:cs typeface="DejaVu Sans"/>
            </a:endParaRPr>
          </a:p>
          <a:p>
            <a:pPr marL="0" marR="0" lvl="0" indent="0" algn="l" defTabSz="914400" rtl="0" fontAlgn="auto" hangingPunct="1">
              <a:lnSpc>
                <a:spcPct val="100000"/>
              </a:lnSpc>
              <a:spcBef>
                <a:spcPts val="0"/>
              </a:spcBef>
              <a:spcAft>
                <a:spcPts val="0"/>
              </a:spcAft>
              <a:buNone/>
              <a:tabLst/>
              <a:defRPr sz="1575" b="0" i="0" u="none" strike="noStrike" kern="0" cap="none" spc="0" baseline="0">
                <a:solidFill>
                  <a:srgbClr val="58686A"/>
                </a:solidFill>
                <a:uFillTx/>
                <a:latin typeface="DejaVu Sans"/>
                <a:ea typeface="DejaVu Sans"/>
                <a:cs typeface="DejaVu Sans"/>
              </a:defRPr>
            </a:pPr>
            <a:r>
              <a:rPr lang="en-US" sz="1550" b="0" i="0" u="none" strike="noStrike" kern="1200" cap="none" spc="0" baseline="0">
                <a:solidFill>
                  <a:srgbClr val="000000"/>
                </a:solidFill>
                <a:uFillTx/>
                <a:latin typeface="DejaVu Sans"/>
                <a:ea typeface="Calibri"/>
                <a:cs typeface="Calibri"/>
              </a:rPr>
              <a:t>Du eller en lagkamrat blir attackerad.</a:t>
            </a:r>
            <a:endParaRPr lang="en-US" sz="1575" b="0" i="0" u="none" strike="noStrike" kern="1200" cap="none" spc="0" baseline="0">
              <a:solidFill>
                <a:srgbClr val="58686A"/>
              </a:solidFill>
              <a:uFillTx/>
              <a:latin typeface="DejaVu Sans"/>
              <a:ea typeface="DejaVu Sans"/>
              <a:cs typeface="DejaVu Sans"/>
            </a:endParaRPr>
          </a:p>
          <a:p>
            <a:pPr marL="0" marR="0" lvl="0" indent="0" algn="l" defTabSz="914400" rtl="0" fontAlgn="auto" hangingPunct="1">
              <a:lnSpc>
                <a:spcPct val="100000"/>
              </a:lnSpc>
              <a:spcBef>
                <a:spcPts val="0"/>
              </a:spcBef>
              <a:spcAft>
                <a:spcPts val="0"/>
              </a:spcAft>
              <a:buNone/>
              <a:tabLst/>
              <a:defRPr sz="1575" b="0" i="0" u="none" strike="noStrike" kern="0" cap="none" spc="0" baseline="0">
                <a:solidFill>
                  <a:srgbClr val="58686A"/>
                </a:solidFill>
                <a:uFillTx/>
                <a:latin typeface="DejaVu Sans"/>
                <a:ea typeface="DejaVu Sans"/>
                <a:cs typeface="DejaVu Sans"/>
              </a:defRPr>
            </a:pPr>
            <a:endParaRPr lang="en-US" sz="1575" b="0" i="0" u="none" strike="noStrike" kern="1200" cap="none" spc="0" baseline="0">
              <a:solidFill>
                <a:srgbClr val="58686A"/>
              </a:solidFill>
              <a:uFillTx/>
              <a:latin typeface="DejaVu Sans"/>
              <a:ea typeface="DejaVu Sans"/>
              <a:cs typeface="DejaVu Sans"/>
            </a:endParaRP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575" b="0" i="0" u="none" strike="noStrike" kern="1200" cap="none" spc="0" baseline="0">
              <a:solidFill>
                <a:srgbClr val="58686A"/>
              </a:solidFill>
              <a:uFillTx/>
              <a:latin typeface="DejaVu Sans"/>
              <a:ea typeface="DejaVu Sans"/>
              <a:cs typeface="DejaVu Sans"/>
            </a:endParaRPr>
          </a:p>
          <a:p>
            <a:pPr marL="0" marR="0" lvl="0" indent="0" algn="l" defTabSz="914400" rtl="0" fontAlgn="auto" hangingPunct="1">
              <a:lnSpc>
                <a:spcPct val="100000"/>
              </a:lnSpc>
              <a:spcBef>
                <a:spcPts val="0"/>
              </a:spcBef>
              <a:spcAft>
                <a:spcPts val="0"/>
              </a:spcAft>
              <a:buNone/>
              <a:tabLst/>
              <a:defRPr sz="1575" b="0" i="0" u="none" strike="noStrike" kern="0" cap="none" spc="0" baseline="0">
                <a:solidFill>
                  <a:srgbClr val="58686A"/>
                </a:solidFill>
                <a:uFillTx/>
                <a:latin typeface="DejaVu Sans"/>
                <a:ea typeface="DejaVu Sans"/>
                <a:cs typeface="DejaVu Sans"/>
              </a:defRPr>
            </a:pPr>
            <a:r>
              <a:rPr lang="en-US" sz="1550" b="0" i="0" u="none" strike="noStrike" kern="1200" cap="none" spc="0" baseline="0">
                <a:solidFill>
                  <a:srgbClr val="000000"/>
                </a:solidFill>
                <a:uFillTx/>
                <a:latin typeface="-webkit-standard"/>
                <a:ea typeface="DejaVu Sans"/>
                <a:cs typeface="DejaVu Sans"/>
              </a:rPr>
              <a:t>Lägg kortet som försvar.</a:t>
            </a:r>
            <a:endParaRPr lang="en-US" sz="1575" b="0" i="0" u="none" strike="noStrike" kern="1200" cap="none" spc="0" baseline="0">
              <a:solidFill>
                <a:srgbClr val="58686A"/>
              </a:solidFill>
              <a:uFillTx/>
              <a:latin typeface="DejaVu Sans"/>
              <a:ea typeface="DejaVu Sans"/>
              <a:cs typeface="DejaVu Sans"/>
            </a:endParaRPr>
          </a:p>
          <a:p>
            <a:pPr marL="0" marR="0" lvl="0" indent="0" algn="l" defTabSz="914400" rtl="0" fontAlgn="auto" hangingPunct="1">
              <a:lnSpc>
                <a:spcPct val="100000"/>
              </a:lnSpc>
              <a:spcBef>
                <a:spcPts val="0"/>
              </a:spcBef>
              <a:spcAft>
                <a:spcPts val="0"/>
              </a:spcAft>
              <a:buNone/>
              <a:tabLst/>
              <a:defRPr sz="1575" b="0" i="0" u="none" strike="noStrike" kern="0" cap="none" spc="0" baseline="0">
                <a:solidFill>
                  <a:srgbClr val="58686A"/>
                </a:solidFill>
                <a:uFillTx/>
                <a:latin typeface="DejaVu Sans"/>
                <a:ea typeface="DejaVu Sans"/>
                <a:cs typeface="DejaVu Sans"/>
              </a:defRPr>
            </a:pPr>
            <a:endParaRPr lang="en-US" sz="1575" b="0" i="0" u="none" strike="noStrike" kern="1200" cap="none" spc="0" baseline="0">
              <a:solidFill>
                <a:srgbClr val="58686A"/>
              </a:solidFill>
              <a:uFillTx/>
              <a:latin typeface="DejaVu Sans"/>
              <a:ea typeface="DejaVu Sans"/>
              <a:cs typeface="DejaVu Sans"/>
            </a:endParaRP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575" b="0" i="0" u="none" strike="noStrike" kern="1200" cap="none" spc="0" baseline="0">
              <a:solidFill>
                <a:srgbClr val="58686A"/>
              </a:solidFill>
              <a:uFillTx/>
              <a:latin typeface="DejaVu Sans"/>
              <a:ea typeface="DejaVu Sans"/>
              <a:cs typeface="DejaVu Sans"/>
            </a:endParaRPr>
          </a:p>
          <a:p>
            <a:pPr marL="0" marR="0" lvl="0" indent="0" algn="l" defTabSz="914400" rtl="0" fontAlgn="auto" hangingPunct="1">
              <a:lnSpc>
                <a:spcPct val="100000"/>
              </a:lnSpc>
              <a:spcBef>
                <a:spcPts val="0"/>
              </a:spcBef>
              <a:spcAft>
                <a:spcPts val="0"/>
              </a:spcAft>
              <a:buNone/>
              <a:tabLst/>
              <a:defRPr sz="1575" b="0" i="0" u="none" strike="noStrike" kern="0" cap="none" spc="0" baseline="0">
                <a:solidFill>
                  <a:srgbClr val="58686A"/>
                </a:solidFill>
                <a:uFillTx/>
                <a:latin typeface="DejaVu Sans"/>
                <a:ea typeface="DejaVu Sans"/>
                <a:cs typeface="DejaVu Sans"/>
              </a:defRPr>
            </a:pPr>
            <a:r>
              <a:rPr lang="en-US" sz="1550" b="0" i="0" u="none" strike="noStrike" kern="1200" cap="none" spc="0" baseline="0">
                <a:solidFill>
                  <a:srgbClr val="000000"/>
                </a:solidFill>
                <a:uFillTx/>
                <a:latin typeface="-webkit-standard"/>
                <a:ea typeface="DejaVu Sans"/>
                <a:cs typeface="DejaVu Sans"/>
              </a:rPr>
              <a:t>Ökar lagets försvarsstyrka med 3.</a:t>
            </a:r>
            <a:endParaRPr lang="en-US" sz="1575" b="0" i="0" u="none" strike="noStrike" kern="1200" cap="none" spc="0" baseline="0">
              <a:solidFill>
                <a:srgbClr val="58686A"/>
              </a:solidFill>
              <a:uFillTx/>
              <a:latin typeface="DejaVu Sans"/>
              <a:ea typeface="DejaVu Sans"/>
              <a:cs typeface="DejaVu Sans"/>
            </a:endParaRPr>
          </a:p>
          <a:p>
            <a:pPr marL="0" marR="0" lvl="0" indent="0" algn="l" defTabSz="914400" rtl="0" fontAlgn="auto" hangingPunct="1">
              <a:lnSpc>
                <a:spcPct val="100000"/>
              </a:lnSpc>
              <a:spcBef>
                <a:spcPts val="0"/>
              </a:spcBef>
              <a:spcAft>
                <a:spcPts val="0"/>
              </a:spcAft>
              <a:buNone/>
              <a:tabLst/>
              <a:defRPr sz="1575" b="0" i="0" u="none" strike="noStrike" kern="0" cap="none" spc="0" baseline="0">
                <a:solidFill>
                  <a:srgbClr val="58686A"/>
                </a:solidFill>
                <a:uFillTx/>
                <a:latin typeface="DejaVu Sans"/>
                <a:ea typeface="DejaVu Sans"/>
                <a:cs typeface="DejaVu Sans"/>
              </a:defRPr>
            </a:pPr>
            <a:endParaRPr lang="en-US" sz="1575" b="0" i="0" u="none" strike="noStrike" kern="1200" cap="none" spc="0" baseline="0">
              <a:solidFill>
                <a:srgbClr val="58686A"/>
              </a:solidFill>
              <a:uFillTx/>
              <a:latin typeface="DejaVu Sans"/>
              <a:ea typeface="DejaVu Sans"/>
              <a:cs typeface="DejaVu Sans"/>
            </a:endParaRPr>
          </a:p>
        </p:txBody>
      </p:sp>
      <p:sp>
        <p:nvSpPr>
          <p:cNvPr id="9" name="Redigerbar kortmall 3">
            <a:extLst>
              <a:ext uri="{FF2B5EF4-FFF2-40B4-BE49-F238E27FC236}">
                <a16:creationId xmlns:a16="http://schemas.microsoft.com/office/drawing/2014/main" id="{053CB727-2478-DE6A-B2D7-F427F28912C2}"/>
              </a:ext>
            </a:extLst>
          </p:cNvPr>
          <p:cNvSpPr/>
          <p:nvPr/>
        </p:nvSpPr>
        <p:spPr>
          <a:xfrm>
            <a:off x="8039103" y="1685925"/>
            <a:ext cx="3543299" cy="2895603"/>
          </a:xfrm>
          <a:prstGeom prst="rect">
            <a:avLst/>
          </a:prstGeom>
          <a:solidFill>
            <a:srgbClr val="FFFFFF"/>
          </a:solidFill>
          <a:ln w="14292" cap="flat">
            <a:solidFill>
              <a:srgbClr val="79549E"/>
            </a:solidFill>
            <a:prstDash val="solid"/>
            <a:miter/>
          </a:ln>
        </p:spPr>
        <p:txBody>
          <a:bodyPr vert="horz" wrap="square" lIns="190496" tIns="152403" rIns="190496" bIns="152403" anchor="t" anchorCtr="0" compatLnSpc="1">
            <a:noAutofit/>
          </a:bodyPr>
          <a:lstStyle/>
          <a:p>
            <a:pPr marL="0" marR="0" lvl="0" indent="0" algn="l" defTabSz="914400" rtl="0" fontAlgn="auto" hangingPunct="1">
              <a:lnSpc>
                <a:spcPct val="100000"/>
              </a:lnSpc>
              <a:spcBef>
                <a:spcPts val="0"/>
              </a:spcBef>
              <a:spcAft>
                <a:spcPts val="0"/>
              </a:spcAft>
              <a:buNone/>
              <a:tabLst/>
              <a:defRPr sz="1575" b="0" i="0" u="none" strike="noStrike" kern="0" cap="none" spc="0" baseline="0">
                <a:solidFill>
                  <a:srgbClr val="58686A"/>
                </a:solidFill>
                <a:uFillTx/>
                <a:latin typeface="DejaVu Sans"/>
                <a:ea typeface="DejaVu Sans"/>
                <a:cs typeface="DejaVu Sans"/>
              </a:defRPr>
            </a:pPr>
            <a:r>
              <a:rPr lang="en-US" sz="1550" b="0" i="0" u="none" strike="noStrike" kern="1200" cap="none" spc="0" baseline="0">
                <a:solidFill>
                  <a:srgbClr val="000000"/>
                </a:solidFill>
                <a:uFillTx/>
                <a:latin typeface="-webkit-standard"/>
                <a:ea typeface="DejaVu Sans"/>
                <a:cs typeface="DejaVu Sans"/>
              </a:rPr>
              <a:t>Bågskytt – attack 2 / försvar 2</a:t>
            </a:r>
            <a:endParaRPr lang="en-US" sz="1575" b="0" i="0" u="none" strike="noStrike" kern="1200" cap="none" spc="0" baseline="0">
              <a:solidFill>
                <a:srgbClr val="58686A"/>
              </a:solidFill>
              <a:uFillTx/>
              <a:latin typeface="DejaVu Sans"/>
              <a:ea typeface="DejaVu Sans"/>
              <a:cs typeface="DejaVu Sans"/>
            </a:endParaRPr>
          </a:p>
          <a:p>
            <a:pPr marL="0" marR="0" lvl="0" indent="0" algn="l" defTabSz="914400" rtl="0" fontAlgn="auto" hangingPunct="1">
              <a:lnSpc>
                <a:spcPct val="100000"/>
              </a:lnSpc>
              <a:spcBef>
                <a:spcPts val="0"/>
              </a:spcBef>
              <a:spcAft>
                <a:spcPts val="0"/>
              </a:spcAft>
              <a:buNone/>
              <a:tabLst/>
              <a:defRPr sz="1575" b="0" i="0" u="none" strike="noStrike" kern="0" cap="none" spc="0" baseline="0">
                <a:solidFill>
                  <a:srgbClr val="58686A"/>
                </a:solidFill>
                <a:uFillTx/>
                <a:latin typeface="DejaVu Sans"/>
                <a:ea typeface="DejaVu Sans"/>
                <a:cs typeface="DejaVu Sans"/>
              </a:defRPr>
            </a:pPr>
            <a:endParaRPr lang="en-US" sz="1575" b="0" i="0" u="none" strike="noStrike" kern="1200" cap="none" spc="0" baseline="0">
              <a:solidFill>
                <a:srgbClr val="58686A"/>
              </a:solidFill>
              <a:uFillTx/>
              <a:latin typeface="DejaVu Sans"/>
              <a:ea typeface="DejaVu Sans"/>
              <a:cs typeface="DejaVu Sans"/>
            </a:endParaRP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575" b="0" i="0" u="none" strike="noStrike" kern="1200" cap="none" spc="0" baseline="0">
              <a:solidFill>
                <a:srgbClr val="58686A"/>
              </a:solidFill>
              <a:uFillTx/>
              <a:latin typeface="DejaVu Sans"/>
              <a:ea typeface="DejaVu Sans"/>
              <a:cs typeface="DejaVu Sans"/>
            </a:endParaRPr>
          </a:p>
          <a:p>
            <a:pPr marL="0" marR="0" lvl="0" indent="0" algn="l" defTabSz="914400" rtl="0" fontAlgn="auto" hangingPunct="1">
              <a:lnSpc>
                <a:spcPct val="100000"/>
              </a:lnSpc>
              <a:spcBef>
                <a:spcPts val="0"/>
              </a:spcBef>
              <a:spcAft>
                <a:spcPts val="0"/>
              </a:spcAft>
              <a:buNone/>
              <a:tabLst/>
              <a:defRPr sz="1575" b="0" i="0" u="none" strike="noStrike" kern="0" cap="none" spc="0" baseline="0">
                <a:solidFill>
                  <a:srgbClr val="58686A"/>
                </a:solidFill>
                <a:uFillTx/>
                <a:latin typeface="DejaVu Sans"/>
                <a:ea typeface="DejaVu Sans"/>
                <a:cs typeface="DejaVu Sans"/>
              </a:defRPr>
            </a:pPr>
            <a:r>
              <a:rPr lang="en-US" sz="1550" b="0" i="0" u="none" strike="noStrike" kern="1200" cap="none" spc="0" baseline="0">
                <a:solidFill>
                  <a:srgbClr val="000000"/>
                </a:solidFill>
                <a:uFillTx/>
                <a:latin typeface="-webkit-standard"/>
                <a:ea typeface="DejaVu Sans"/>
                <a:cs typeface="DejaVu Sans"/>
              </a:rPr>
              <a:t>Ditt lag attackerar eller försvarar.</a:t>
            </a:r>
            <a:endParaRPr lang="en-US" sz="1575" b="0" i="0" u="none" strike="noStrike" kern="1200" cap="none" spc="0" baseline="0">
              <a:solidFill>
                <a:srgbClr val="58686A"/>
              </a:solidFill>
              <a:uFillTx/>
              <a:latin typeface="DejaVu Sans"/>
              <a:ea typeface="DejaVu Sans"/>
              <a:cs typeface="DejaVu Sans"/>
            </a:endParaRPr>
          </a:p>
          <a:p>
            <a:pPr marL="0" marR="0" lvl="0" indent="0" algn="l" defTabSz="914400" rtl="0" fontAlgn="auto" hangingPunct="1">
              <a:lnSpc>
                <a:spcPct val="100000"/>
              </a:lnSpc>
              <a:spcBef>
                <a:spcPts val="0"/>
              </a:spcBef>
              <a:spcAft>
                <a:spcPts val="0"/>
              </a:spcAft>
              <a:buNone/>
              <a:tabLst/>
              <a:defRPr sz="1575" b="0" i="0" u="none" strike="noStrike" kern="0" cap="none" spc="0" baseline="0">
                <a:solidFill>
                  <a:srgbClr val="58686A"/>
                </a:solidFill>
                <a:uFillTx/>
                <a:latin typeface="DejaVu Sans"/>
                <a:ea typeface="DejaVu Sans"/>
                <a:cs typeface="DejaVu Sans"/>
              </a:defRPr>
            </a:pPr>
            <a:endParaRPr lang="en-US" sz="1575" b="0" i="0" u="none" strike="noStrike" kern="1200" cap="none" spc="0" baseline="0">
              <a:solidFill>
                <a:srgbClr val="58686A"/>
              </a:solidFill>
              <a:uFillTx/>
              <a:latin typeface="DejaVu Sans"/>
              <a:ea typeface="DejaVu Sans"/>
              <a:cs typeface="DejaVu Sans"/>
            </a:endParaRP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575" b="0" i="0" u="none" strike="noStrike" kern="1200" cap="none" spc="0" baseline="0">
              <a:solidFill>
                <a:srgbClr val="58686A"/>
              </a:solidFill>
              <a:uFillTx/>
              <a:latin typeface="DejaVu Sans"/>
              <a:ea typeface="DejaVu Sans"/>
              <a:cs typeface="DejaVu Sans"/>
            </a:endParaRPr>
          </a:p>
          <a:p>
            <a:pPr marL="0" marR="0" lvl="0" indent="0" algn="l" defTabSz="914400" rtl="0" fontAlgn="auto" hangingPunct="1">
              <a:lnSpc>
                <a:spcPct val="100000"/>
              </a:lnSpc>
              <a:spcBef>
                <a:spcPts val="0"/>
              </a:spcBef>
              <a:spcAft>
                <a:spcPts val="0"/>
              </a:spcAft>
              <a:buNone/>
              <a:tabLst/>
              <a:defRPr sz="1575" b="0" i="0" u="none" strike="noStrike" kern="0" cap="none" spc="0" baseline="0">
                <a:solidFill>
                  <a:srgbClr val="58686A"/>
                </a:solidFill>
                <a:uFillTx/>
                <a:latin typeface="DejaVu Sans"/>
                <a:ea typeface="DejaVu Sans"/>
                <a:cs typeface="DejaVu Sans"/>
              </a:defRPr>
            </a:pPr>
            <a:r>
              <a:rPr lang="en-US" sz="1550" b="0" i="0" u="none" strike="noStrike" kern="1200" cap="none" spc="0" baseline="0">
                <a:solidFill>
                  <a:srgbClr val="000000"/>
                </a:solidFill>
                <a:uFillTx/>
                <a:latin typeface="-webkit-standard"/>
                <a:ea typeface="DejaVu Sans"/>
                <a:cs typeface="DejaVu Sans"/>
              </a:rPr>
              <a:t>Välj att använda kortet till attack eller försvar.</a:t>
            </a:r>
            <a:endParaRPr lang="en-US" sz="1575" b="0" i="0" u="none" strike="noStrike" kern="1200" cap="none" spc="0" baseline="0">
              <a:solidFill>
                <a:srgbClr val="58686A"/>
              </a:solidFill>
              <a:uFillTx/>
              <a:latin typeface="DejaVu Sans"/>
              <a:ea typeface="DejaVu Sans"/>
              <a:cs typeface="DejaVu Sans"/>
            </a:endParaRPr>
          </a:p>
          <a:p>
            <a:pPr marL="0" marR="0" lvl="0" indent="0" algn="l" defTabSz="914400" rtl="0" fontAlgn="auto" hangingPunct="1">
              <a:lnSpc>
                <a:spcPct val="100000"/>
              </a:lnSpc>
              <a:spcBef>
                <a:spcPts val="0"/>
              </a:spcBef>
              <a:spcAft>
                <a:spcPts val="0"/>
              </a:spcAft>
              <a:buNone/>
              <a:tabLst/>
              <a:defRPr sz="1575" b="0" i="0" u="none" strike="noStrike" kern="0" cap="none" spc="0" baseline="0">
                <a:solidFill>
                  <a:srgbClr val="58686A"/>
                </a:solidFill>
                <a:uFillTx/>
                <a:latin typeface="DejaVu Sans"/>
                <a:ea typeface="DejaVu Sans"/>
                <a:cs typeface="DejaVu Sans"/>
              </a:defRPr>
            </a:pPr>
            <a:endParaRPr lang="en-US" sz="1575" b="0" i="0" u="none" strike="noStrike" kern="1200" cap="none" spc="0" baseline="0">
              <a:solidFill>
                <a:srgbClr val="58686A"/>
              </a:solidFill>
              <a:uFillTx/>
              <a:latin typeface="DejaVu Sans"/>
              <a:ea typeface="DejaVu Sans"/>
              <a:cs typeface="DejaVu Sans"/>
            </a:endParaRPr>
          </a:p>
          <a:p>
            <a:pPr marL="0" marR="0" lvl="0" indent="0" algn="l" defTabSz="914400" rtl="0" fontAlgn="auto" hangingPunct="1">
              <a:lnSpc>
                <a:spcPct val="100000"/>
              </a:lnSpc>
              <a:spcBef>
                <a:spcPts val="0"/>
              </a:spcBef>
              <a:spcAft>
                <a:spcPts val="0"/>
              </a:spcAft>
              <a:buNone/>
              <a:tabLst/>
              <a:defRPr sz="1575" b="0" i="0" u="none" strike="noStrike" kern="0" cap="none" spc="0" baseline="0">
                <a:solidFill>
                  <a:srgbClr val="58686A"/>
                </a:solidFill>
                <a:uFillTx/>
                <a:latin typeface="DejaVu Sans"/>
                <a:ea typeface="DejaVu Sans"/>
                <a:cs typeface="DejaVu Sans"/>
              </a:defRPr>
            </a:pPr>
            <a:r>
              <a:rPr lang="en-US" sz="1550" b="0" i="0" u="none" strike="noStrike" kern="1200" cap="none" spc="0" baseline="0">
                <a:solidFill>
                  <a:srgbClr val="000000"/>
                </a:solidFill>
                <a:uFillTx/>
                <a:latin typeface="-webkit-standard"/>
                <a:ea typeface="DejaVu Sans"/>
                <a:cs typeface="DejaVu Sans"/>
              </a:rPr>
              <a:t>Ger 2 i den valda styrkan.</a:t>
            </a:r>
            <a:endParaRPr lang="en-US" sz="1575" b="0" i="0" u="none" strike="noStrike" kern="1200" cap="none" spc="0" baseline="0">
              <a:solidFill>
                <a:srgbClr val="58686A"/>
              </a:solidFill>
              <a:uFillTx/>
              <a:latin typeface="DejaVu Sans"/>
              <a:ea typeface="DejaVu Sans"/>
              <a:cs typeface="DejaVu Sans"/>
            </a:endParaRPr>
          </a:p>
          <a:p>
            <a:pPr marL="0" marR="0" lvl="0" indent="0" algn="l" defTabSz="914400" rtl="0" fontAlgn="auto" hangingPunct="1">
              <a:lnSpc>
                <a:spcPct val="100000"/>
              </a:lnSpc>
              <a:spcBef>
                <a:spcPts val="0"/>
              </a:spcBef>
              <a:spcAft>
                <a:spcPts val="0"/>
              </a:spcAft>
              <a:buNone/>
              <a:tabLst/>
              <a:defRPr sz="1575" b="0" i="0" u="none" strike="noStrike" kern="0" cap="none" spc="0" baseline="0">
                <a:solidFill>
                  <a:srgbClr val="58686A"/>
                </a:solidFill>
                <a:uFillTx/>
                <a:latin typeface="DejaVu Sans"/>
                <a:ea typeface="DejaVu Sans"/>
                <a:cs typeface="DejaVu Sans"/>
              </a:defRPr>
            </a:pPr>
            <a:endParaRPr lang="en-US" sz="1575" b="0" i="0" u="none" strike="noStrike" kern="1200" cap="none" spc="0" baseline="0">
              <a:solidFill>
                <a:srgbClr val="58686A"/>
              </a:solidFill>
              <a:uFillTx/>
              <a:latin typeface="DejaVu Sans"/>
              <a:ea typeface="DejaVu Sans"/>
              <a:cs typeface="DejaVu Sans"/>
            </a:endParaRPr>
          </a:p>
        </p:txBody>
      </p:sp>
      <p:sp>
        <p:nvSpPr>
          <p:cNvPr id="10" name="Redigerbar kortmall 4">
            <a:extLst>
              <a:ext uri="{FF2B5EF4-FFF2-40B4-BE49-F238E27FC236}">
                <a16:creationId xmlns:a16="http://schemas.microsoft.com/office/drawing/2014/main" id="{6F24A936-CDCB-02D6-9A51-9DB7F61475F1}"/>
              </a:ext>
            </a:extLst>
          </p:cNvPr>
          <p:cNvSpPr/>
          <p:nvPr/>
        </p:nvSpPr>
        <p:spPr>
          <a:xfrm>
            <a:off x="457200" y="4829175"/>
            <a:ext cx="3543299" cy="2895603"/>
          </a:xfrm>
          <a:prstGeom prst="rect">
            <a:avLst/>
          </a:prstGeom>
          <a:solidFill>
            <a:srgbClr val="FFFFFF"/>
          </a:solidFill>
          <a:ln w="14292" cap="flat">
            <a:solidFill>
              <a:srgbClr val="79549E"/>
            </a:solidFill>
            <a:prstDash val="solid"/>
            <a:miter/>
          </a:ln>
        </p:spPr>
        <p:txBody>
          <a:bodyPr vert="horz" wrap="square" lIns="190496" tIns="152403" rIns="190496" bIns="152403" anchor="t" anchorCtr="0" compatLnSpc="1">
            <a:noAutofit/>
          </a:bodyPr>
          <a:lstStyle/>
          <a:p>
            <a:pPr marL="0" marR="0" lvl="0" indent="0" algn="l" defTabSz="914400" rtl="0" fontAlgn="auto" hangingPunct="1">
              <a:lnSpc>
                <a:spcPct val="100000"/>
              </a:lnSpc>
              <a:spcBef>
                <a:spcPts val="0"/>
              </a:spcBef>
              <a:spcAft>
                <a:spcPts val="0"/>
              </a:spcAft>
              <a:buNone/>
              <a:tabLst/>
              <a:defRPr sz="1575" b="0" i="0" u="none" strike="noStrike" kern="0" cap="none" spc="0" baseline="0">
                <a:solidFill>
                  <a:srgbClr val="58686A"/>
                </a:solidFill>
                <a:uFillTx/>
                <a:latin typeface="DejaVu Sans"/>
                <a:ea typeface="DejaVu Sans"/>
                <a:cs typeface="DejaVu Sans"/>
              </a:defRPr>
            </a:pPr>
            <a:r>
              <a:rPr lang="en-US" sz="1550" b="1" i="0" u="none" strike="noStrike" kern="1200" cap="none" spc="0" baseline="0">
                <a:solidFill>
                  <a:srgbClr val="000000"/>
                </a:solidFill>
                <a:uFillTx/>
                <a:latin typeface="DejaVu Sans"/>
                <a:ea typeface="Calibri"/>
                <a:cs typeface="Calibri"/>
              </a:rPr>
              <a:t>Eldklot – magi</a:t>
            </a:r>
            <a:endParaRPr lang="sv-SE" sz="1575" b="1" i="0" u="none" strike="noStrike" kern="1200" cap="none" spc="0" baseline="0">
              <a:solidFill>
                <a:srgbClr val="000000"/>
              </a:solidFill>
              <a:uFillTx/>
              <a:latin typeface="DejaVu Sans"/>
              <a:ea typeface="Calibri"/>
              <a:cs typeface="Calibri"/>
            </a:endParaRPr>
          </a:p>
          <a:p>
            <a:pPr marL="285750" marR="0" lvl="0" indent="-285750" algn="l" defTabSz="914400" rtl="0" fontAlgn="auto" hangingPunct="1">
              <a:lnSpc>
                <a:spcPct val="100000"/>
              </a:lnSpc>
              <a:spcBef>
                <a:spcPts val="0"/>
              </a:spcBef>
              <a:spcAft>
                <a:spcPts val="0"/>
              </a:spcAft>
              <a:buSzPct val="100000"/>
              <a:buFont typeface="Arial"/>
              <a:buChar char="•"/>
              <a:tabLst/>
              <a:defRPr sz="1575" b="0" i="0" u="none" strike="noStrike" kern="0" cap="none" spc="0" baseline="0">
                <a:solidFill>
                  <a:srgbClr val="58686A"/>
                </a:solidFill>
                <a:uFillTx/>
                <a:latin typeface="DejaVu Sans"/>
                <a:ea typeface="DejaVu Sans"/>
                <a:cs typeface="DejaVu Sans"/>
              </a:defRPr>
            </a:pPr>
            <a:r>
              <a:rPr lang="en-US" sz="1550" b="1" i="0" u="none" strike="noStrike" kern="1200" cap="none" spc="0" baseline="0">
                <a:solidFill>
                  <a:srgbClr val="000000"/>
                </a:solidFill>
                <a:uFillTx/>
                <a:latin typeface="DejaVu Sans"/>
                <a:ea typeface="Calibri"/>
                <a:cs typeface="Calibri"/>
              </a:rPr>
              <a:t>Namn:</a:t>
            </a:r>
            <a:r>
              <a:rPr lang="en-US" sz="1550" b="0" i="0" u="none" strike="noStrike" kern="1200" cap="none" spc="0" baseline="0">
                <a:solidFill>
                  <a:srgbClr val="000000"/>
                </a:solidFill>
                <a:uFillTx/>
                <a:latin typeface="DejaVu Sans"/>
                <a:ea typeface="Calibri"/>
                <a:cs typeface="Calibri"/>
              </a:rPr>
              <a:t> Eldklot</a:t>
            </a:r>
            <a:endParaRPr lang="sv-SE" sz="1575" b="0" i="0" u="none" strike="noStrike" kern="1200" cap="none" spc="0" baseline="0">
              <a:solidFill>
                <a:srgbClr val="58686A"/>
              </a:solidFill>
              <a:uFillTx/>
              <a:latin typeface="DejaVu Sans"/>
              <a:ea typeface="Calibri"/>
              <a:cs typeface="Calibri"/>
            </a:endParaRPr>
          </a:p>
          <a:p>
            <a:pPr marL="285750" marR="0" lvl="0" indent="-285750" algn="l" defTabSz="914400" rtl="0" fontAlgn="auto" hangingPunct="1">
              <a:lnSpc>
                <a:spcPct val="100000"/>
              </a:lnSpc>
              <a:spcBef>
                <a:spcPts val="0"/>
              </a:spcBef>
              <a:spcAft>
                <a:spcPts val="0"/>
              </a:spcAft>
              <a:buSzPct val="100000"/>
              <a:buFont typeface="Arial"/>
              <a:buChar char="•"/>
              <a:tabLst/>
              <a:defRPr sz="1575" b="0" i="0" u="none" strike="noStrike" kern="0" cap="none" spc="0" baseline="0">
                <a:solidFill>
                  <a:srgbClr val="58686A"/>
                </a:solidFill>
                <a:uFillTx/>
                <a:latin typeface="DejaVu Sans"/>
                <a:ea typeface="DejaVu Sans"/>
                <a:cs typeface="DejaVu Sans"/>
              </a:defRPr>
            </a:pPr>
            <a:r>
              <a:rPr lang="en-US" sz="1550" b="1" i="0" u="none" strike="noStrike" kern="1200" cap="none" spc="0" baseline="0">
                <a:solidFill>
                  <a:srgbClr val="000000"/>
                </a:solidFill>
                <a:uFillTx/>
                <a:latin typeface="DejaVu Sans"/>
                <a:ea typeface="Calibri"/>
                <a:cs typeface="Calibri"/>
              </a:rPr>
              <a:t>Villkor:</a:t>
            </a:r>
            <a:r>
              <a:rPr lang="en-US" sz="1550" b="0" i="0" u="none" strike="noStrike" kern="1200" cap="none" spc="0" baseline="0">
                <a:solidFill>
                  <a:srgbClr val="000000"/>
                </a:solidFill>
                <a:uFillTx/>
                <a:latin typeface="DejaVu Sans"/>
                <a:ea typeface="Calibri"/>
                <a:cs typeface="Calibri"/>
              </a:rPr>
              <a:t> Ditt lag attackerar och du har inte spelat något attackkort i striden.</a:t>
            </a:r>
            <a:endParaRPr lang="en-US" sz="1575" b="0" i="0" u="none" strike="noStrike" kern="1200" cap="none" spc="0" baseline="0">
              <a:solidFill>
                <a:srgbClr val="000000"/>
              </a:solidFill>
              <a:uFillTx/>
              <a:latin typeface="DejaVu Sans"/>
              <a:ea typeface="Calibri"/>
              <a:cs typeface="Calibri"/>
            </a:endParaRPr>
          </a:p>
          <a:p>
            <a:pPr marL="285750" marR="0" lvl="0" indent="-285750" algn="l" defTabSz="914400" rtl="0" fontAlgn="auto" hangingPunct="1">
              <a:lnSpc>
                <a:spcPct val="100000"/>
              </a:lnSpc>
              <a:spcBef>
                <a:spcPts val="0"/>
              </a:spcBef>
              <a:spcAft>
                <a:spcPts val="0"/>
              </a:spcAft>
              <a:buSzPct val="100000"/>
              <a:buFont typeface="Arial"/>
              <a:buChar char="•"/>
              <a:tabLst/>
              <a:defRPr sz="1575" b="0" i="0" u="none" strike="noStrike" kern="0" cap="none" spc="0" baseline="0">
                <a:solidFill>
                  <a:srgbClr val="58686A"/>
                </a:solidFill>
                <a:uFillTx/>
                <a:latin typeface="DejaVu Sans"/>
                <a:ea typeface="DejaVu Sans"/>
                <a:cs typeface="DejaVu Sans"/>
              </a:defRPr>
            </a:pPr>
            <a:r>
              <a:rPr lang="en-US" sz="1550" b="1" i="0" u="none" strike="noStrike" kern="1200" cap="none" spc="0" baseline="0">
                <a:solidFill>
                  <a:srgbClr val="000000"/>
                </a:solidFill>
                <a:uFillTx/>
                <a:latin typeface="DejaVu Sans"/>
                <a:ea typeface="Calibri"/>
                <a:cs typeface="Calibri"/>
              </a:rPr>
              <a:t>Handling:</a:t>
            </a:r>
            <a:r>
              <a:rPr lang="en-US" sz="1550" b="0" i="0" u="none" strike="noStrike" kern="1200" cap="none" spc="0" baseline="0">
                <a:solidFill>
                  <a:srgbClr val="000000"/>
                </a:solidFill>
                <a:uFillTx/>
                <a:latin typeface="DejaVu Sans"/>
                <a:ea typeface="Calibri"/>
                <a:cs typeface="Calibri"/>
              </a:rPr>
              <a:t> Spela Eldklot som ditt attackkort.</a:t>
            </a:r>
            <a:endParaRPr lang="en-US" sz="1575" b="0" i="0" u="none" strike="noStrike" kern="1200" cap="none" spc="0" baseline="0">
              <a:solidFill>
                <a:srgbClr val="58686A"/>
              </a:solidFill>
              <a:uFillTx/>
              <a:latin typeface="DejaVu Sans"/>
              <a:ea typeface="Calibri"/>
              <a:cs typeface="Calibri"/>
            </a:endParaRPr>
          </a:p>
          <a:p>
            <a:pPr marL="285750" marR="0" lvl="0" indent="-285750" algn="l" defTabSz="914400" rtl="0" fontAlgn="auto" hangingPunct="1">
              <a:lnSpc>
                <a:spcPct val="100000"/>
              </a:lnSpc>
              <a:spcBef>
                <a:spcPts val="0"/>
              </a:spcBef>
              <a:spcAft>
                <a:spcPts val="0"/>
              </a:spcAft>
              <a:buSzPct val="100000"/>
              <a:buFont typeface="Arial"/>
              <a:buChar char="•"/>
              <a:tabLst/>
              <a:defRPr sz="1575" b="0" i="0" u="none" strike="noStrike" kern="0" cap="none" spc="0" baseline="0">
                <a:solidFill>
                  <a:srgbClr val="58686A"/>
                </a:solidFill>
                <a:uFillTx/>
                <a:latin typeface="DejaVu Sans"/>
                <a:ea typeface="DejaVu Sans"/>
                <a:cs typeface="DejaVu Sans"/>
              </a:defRPr>
            </a:pPr>
            <a:r>
              <a:rPr lang="en-US" sz="1550" b="1" i="0" u="none" strike="noStrike" kern="1200" cap="none" spc="0" baseline="0">
                <a:solidFill>
                  <a:srgbClr val="000000"/>
                </a:solidFill>
                <a:uFillTx/>
                <a:latin typeface="DejaVu Sans"/>
                <a:ea typeface="Calibri"/>
                <a:cs typeface="Calibri"/>
              </a:rPr>
              <a:t>Konsekvens:</a:t>
            </a:r>
            <a:r>
              <a:rPr lang="en-US" sz="1550" b="0" i="0" u="none" strike="noStrike" kern="1200" cap="none" spc="0" baseline="0">
                <a:solidFill>
                  <a:srgbClr val="000000"/>
                </a:solidFill>
                <a:uFillTx/>
                <a:latin typeface="DejaVu Sans"/>
                <a:ea typeface="Calibri"/>
                <a:cs typeface="Calibri"/>
              </a:rPr>
              <a:t> Ökar lagets attackstyrka med 4. Kortet slängs efter striden.</a:t>
            </a:r>
          </a:p>
          <a:p>
            <a:pPr marL="0" marR="0" lvl="0" indent="0" algn="l" defTabSz="914400" rtl="0" fontAlgn="auto" hangingPunct="1">
              <a:lnSpc>
                <a:spcPct val="100000"/>
              </a:lnSpc>
              <a:spcBef>
                <a:spcPts val="0"/>
              </a:spcBef>
              <a:spcAft>
                <a:spcPts val="0"/>
              </a:spcAft>
              <a:buNone/>
              <a:tabLst/>
              <a:defRPr sz="1575" b="0" i="0" u="none" strike="noStrike" kern="0" cap="none" spc="0" baseline="0">
                <a:solidFill>
                  <a:srgbClr val="58686A"/>
                </a:solidFill>
                <a:uFillTx/>
                <a:latin typeface="DejaVu Sans"/>
                <a:ea typeface="DejaVu Sans"/>
                <a:cs typeface="DejaVu Sans"/>
              </a:defRPr>
            </a:pPr>
            <a:endParaRPr lang="en-US" sz="1550" b="0" i="0" u="none" strike="noStrike" kern="1200" cap="none" spc="0" baseline="0">
              <a:solidFill>
                <a:srgbClr val="000000"/>
              </a:solidFill>
              <a:uFillTx/>
              <a:latin typeface="DejaVu Sans"/>
              <a:ea typeface="Calibri"/>
              <a:cs typeface="Calibri"/>
            </a:endParaRPr>
          </a:p>
          <a:p>
            <a:pPr marL="0" marR="0" lvl="0" indent="0" algn="l" defTabSz="914400" rtl="0" fontAlgn="auto" hangingPunct="1">
              <a:lnSpc>
                <a:spcPct val="100000"/>
              </a:lnSpc>
              <a:spcBef>
                <a:spcPts val="0"/>
              </a:spcBef>
              <a:spcAft>
                <a:spcPts val="0"/>
              </a:spcAft>
              <a:buNone/>
              <a:tabLst/>
              <a:defRPr sz="1575" b="0" i="0" u="none" strike="noStrike" kern="0" cap="none" spc="0" baseline="0">
                <a:solidFill>
                  <a:srgbClr val="58686A"/>
                </a:solidFill>
                <a:uFillTx/>
                <a:latin typeface="DejaVu Sans"/>
                <a:ea typeface="DejaVu Sans"/>
                <a:cs typeface="DejaVu Sans"/>
              </a:defRPr>
            </a:pPr>
            <a:endParaRPr lang="sv-SE" sz="1575" b="0" i="0" u="none" strike="noStrike" kern="1200" cap="none" spc="0" baseline="0">
              <a:solidFill>
                <a:srgbClr val="58686A"/>
              </a:solidFill>
              <a:uFillTx/>
              <a:latin typeface="DejaVu Sans"/>
              <a:ea typeface="DejaVu Sans"/>
              <a:cs typeface="DejaVu Sans"/>
            </a:endParaRPr>
          </a:p>
        </p:txBody>
      </p:sp>
      <p:sp>
        <p:nvSpPr>
          <p:cNvPr id="11" name="Redigerbar kortmall 5">
            <a:extLst>
              <a:ext uri="{FF2B5EF4-FFF2-40B4-BE49-F238E27FC236}">
                <a16:creationId xmlns:a16="http://schemas.microsoft.com/office/drawing/2014/main" id="{48244202-6212-FBEB-86CF-E067288F2D68}"/>
              </a:ext>
            </a:extLst>
          </p:cNvPr>
          <p:cNvSpPr/>
          <p:nvPr/>
        </p:nvSpPr>
        <p:spPr>
          <a:xfrm>
            <a:off x="4248146" y="4829175"/>
            <a:ext cx="3543299" cy="2895603"/>
          </a:xfrm>
          <a:prstGeom prst="rect">
            <a:avLst/>
          </a:prstGeom>
          <a:solidFill>
            <a:srgbClr val="FFFFFF"/>
          </a:solidFill>
          <a:ln w="14292" cap="flat">
            <a:solidFill>
              <a:srgbClr val="79549E"/>
            </a:solidFill>
            <a:prstDash val="solid"/>
            <a:miter/>
          </a:ln>
        </p:spPr>
        <p:txBody>
          <a:bodyPr vert="horz" wrap="square" lIns="190496" tIns="152403" rIns="190496" bIns="152403" anchor="t" anchorCtr="0" compatLnSpc="1">
            <a:noAutofit/>
          </a:bodyPr>
          <a:lstStyle/>
          <a:p>
            <a:pPr marL="0" marR="0" lvl="0" indent="0" algn="l" defTabSz="914400" rtl="0" fontAlgn="auto" hangingPunct="1">
              <a:lnSpc>
                <a:spcPct val="100000"/>
              </a:lnSpc>
              <a:spcBef>
                <a:spcPts val="0"/>
              </a:spcBef>
              <a:spcAft>
                <a:spcPts val="0"/>
              </a:spcAft>
              <a:buNone/>
              <a:tabLst/>
              <a:defRPr sz="1575" b="0" i="0" u="none" strike="noStrike" kern="0" cap="none" spc="0" baseline="0">
                <a:solidFill>
                  <a:srgbClr val="58686A"/>
                </a:solidFill>
                <a:uFillTx/>
                <a:latin typeface="DejaVu Sans"/>
                <a:ea typeface="DejaVu Sans"/>
                <a:cs typeface="DejaVu Sans"/>
              </a:defRPr>
            </a:pPr>
            <a:r>
              <a:rPr lang="sv-SE" sz="1550" b="1" i="0" u="none" strike="noStrike" kern="1200" cap="none" spc="0" baseline="0">
                <a:solidFill>
                  <a:srgbClr val="58686A"/>
                </a:solidFill>
                <a:uFillTx/>
                <a:latin typeface="DejaVu Sans"/>
                <a:ea typeface="Calibri"/>
                <a:cs typeface="Calibri"/>
              </a:rPr>
              <a:t>Magisk barriär – trumf</a:t>
            </a:r>
            <a:endParaRPr lang="sv-SE" sz="1575" b="0" i="0" u="none" strike="noStrike" kern="1200" cap="none" spc="0" baseline="0">
              <a:solidFill>
                <a:srgbClr val="58686A"/>
              </a:solidFill>
              <a:uFillTx/>
              <a:latin typeface="DejaVu Sans"/>
              <a:ea typeface="DejaVu Sans"/>
              <a:cs typeface="DejaVu Sans"/>
            </a:endParaRPr>
          </a:p>
          <a:p>
            <a:pPr marL="285750" marR="0" lvl="0" indent="-285750" algn="l" defTabSz="914400" rtl="0" fontAlgn="auto" hangingPunct="1">
              <a:lnSpc>
                <a:spcPct val="100000"/>
              </a:lnSpc>
              <a:spcBef>
                <a:spcPts val="0"/>
              </a:spcBef>
              <a:spcAft>
                <a:spcPts val="0"/>
              </a:spcAft>
              <a:buSzPct val="100000"/>
              <a:buFont typeface="Arial"/>
              <a:buChar char="•"/>
              <a:tabLst/>
              <a:defRPr sz="1575" b="0" i="0" u="none" strike="noStrike" kern="0" cap="none" spc="0" baseline="0">
                <a:solidFill>
                  <a:srgbClr val="58686A"/>
                </a:solidFill>
                <a:uFillTx/>
                <a:latin typeface="DejaVu Sans"/>
                <a:ea typeface="DejaVu Sans"/>
                <a:cs typeface="DejaVu Sans"/>
              </a:defRPr>
            </a:pPr>
            <a:r>
              <a:rPr lang="sv-SE" sz="1550" b="1" i="0" u="none" strike="noStrike" kern="1200" cap="none" spc="0" baseline="0">
                <a:solidFill>
                  <a:srgbClr val="58686A"/>
                </a:solidFill>
                <a:uFillTx/>
                <a:latin typeface="DejaVu Sans"/>
                <a:ea typeface="Calibri"/>
                <a:cs typeface="Calibri"/>
              </a:rPr>
              <a:t>Namn:</a:t>
            </a:r>
            <a:r>
              <a:rPr lang="sv-SE" sz="1550" b="0" i="0" u="none" strike="noStrike" kern="1200" cap="none" spc="0" baseline="0">
                <a:solidFill>
                  <a:srgbClr val="58686A"/>
                </a:solidFill>
                <a:uFillTx/>
                <a:latin typeface="DejaVu Sans"/>
                <a:ea typeface="Calibri"/>
                <a:cs typeface="Calibri"/>
              </a:rPr>
              <a:t> Magisk barriär</a:t>
            </a:r>
            <a:endParaRPr lang="sv-SE" sz="1575" b="0" i="0" u="none" strike="noStrike" kern="1200" cap="none" spc="0" baseline="0">
              <a:solidFill>
                <a:srgbClr val="58686A"/>
              </a:solidFill>
              <a:uFillTx/>
              <a:latin typeface="DejaVu Sans"/>
              <a:ea typeface="DejaVu Sans"/>
              <a:cs typeface="DejaVu Sans"/>
            </a:endParaRPr>
          </a:p>
          <a:p>
            <a:pPr marL="285750" marR="0" lvl="0" indent="-285750" algn="l" defTabSz="914400" rtl="0" fontAlgn="auto" hangingPunct="1">
              <a:lnSpc>
                <a:spcPct val="100000"/>
              </a:lnSpc>
              <a:spcBef>
                <a:spcPts val="0"/>
              </a:spcBef>
              <a:spcAft>
                <a:spcPts val="0"/>
              </a:spcAft>
              <a:buSzPct val="100000"/>
              <a:buFont typeface="Arial"/>
              <a:buChar char="•"/>
              <a:tabLst/>
              <a:defRPr sz="1800" b="0" i="0" u="none" strike="noStrike" kern="0" cap="none" spc="0" baseline="0">
                <a:solidFill>
                  <a:srgbClr val="000000"/>
                </a:solidFill>
                <a:uFillTx/>
              </a:defRPr>
            </a:pPr>
            <a:r>
              <a:rPr lang="sv-SE" sz="1550" b="1" i="0" u="none" strike="noStrike" kern="1200" cap="none" spc="0" baseline="0">
                <a:solidFill>
                  <a:srgbClr val="58686A"/>
                </a:solidFill>
                <a:uFillTx/>
                <a:latin typeface="Calibri"/>
                <a:ea typeface="Calibri"/>
                <a:cs typeface="Calibri"/>
              </a:rPr>
              <a:t>Villkor:</a:t>
            </a:r>
            <a:r>
              <a:rPr lang="sv-SE" sz="1550" b="0" i="0" u="none" strike="noStrike" kern="1200" cap="none" spc="0" baseline="0">
                <a:solidFill>
                  <a:srgbClr val="58686A"/>
                </a:solidFill>
                <a:uFillTx/>
                <a:latin typeface="Calibri"/>
                <a:ea typeface="Calibri"/>
                <a:cs typeface="Calibri"/>
              </a:rPr>
              <a:t> Du eller en lagkamrat blir attackerad.</a:t>
            </a:r>
            <a:endParaRPr lang="sv-SE" sz="1800" b="0" i="0" u="none" strike="noStrike" kern="1200" cap="none" spc="0" baseline="0">
              <a:solidFill>
                <a:srgbClr val="000000"/>
              </a:solidFill>
              <a:uFillTx/>
              <a:latin typeface="Calibri"/>
              <a:ea typeface="Calibri"/>
              <a:cs typeface="Calibri"/>
            </a:endParaRPr>
          </a:p>
          <a:p>
            <a:pPr marL="285750" marR="0" lvl="0" indent="-285750" algn="l" defTabSz="914400" rtl="0" fontAlgn="auto" hangingPunct="1">
              <a:lnSpc>
                <a:spcPct val="100000"/>
              </a:lnSpc>
              <a:spcBef>
                <a:spcPts val="0"/>
              </a:spcBef>
              <a:spcAft>
                <a:spcPts val="0"/>
              </a:spcAft>
              <a:buSzPct val="100000"/>
              <a:buFont typeface="Arial"/>
              <a:buChar char="•"/>
              <a:tabLst/>
              <a:defRPr sz="1575" b="0" i="0" u="none" strike="noStrike" kern="0" cap="none" spc="0" baseline="0">
                <a:solidFill>
                  <a:srgbClr val="58686A"/>
                </a:solidFill>
                <a:uFillTx/>
                <a:latin typeface="DejaVu Sans"/>
                <a:ea typeface="DejaVu Sans"/>
                <a:cs typeface="DejaVu Sans"/>
              </a:defRPr>
            </a:pPr>
            <a:r>
              <a:rPr lang="sv-SE" sz="1550" b="1" i="0" u="none" strike="noStrike" kern="1200" cap="none" spc="0" baseline="0">
                <a:solidFill>
                  <a:srgbClr val="58686A"/>
                </a:solidFill>
                <a:uFillTx/>
                <a:latin typeface="DejaVu Sans"/>
                <a:ea typeface="Calibri"/>
                <a:cs typeface="Calibri"/>
              </a:rPr>
              <a:t>Handling:</a:t>
            </a:r>
            <a:r>
              <a:rPr lang="sv-SE" sz="1550" b="0" i="0" u="none" strike="noStrike" kern="1200" cap="none" spc="0" baseline="0">
                <a:solidFill>
                  <a:srgbClr val="58686A"/>
                </a:solidFill>
                <a:uFillTx/>
                <a:latin typeface="DejaVu Sans"/>
                <a:ea typeface="Calibri"/>
                <a:cs typeface="Calibri"/>
              </a:rPr>
              <a:t> Spela kortet och välj ett av motståndarnas attackkort.</a:t>
            </a:r>
            <a:endParaRPr lang="sv-SE" sz="1575" b="0" i="0" u="none" strike="noStrike" kern="1200" cap="none" spc="0" baseline="0">
              <a:solidFill>
                <a:srgbClr val="58686A"/>
              </a:solidFill>
              <a:uFillTx/>
              <a:latin typeface="DejaVu Sans"/>
              <a:ea typeface="DejaVu Sans"/>
              <a:cs typeface="DejaVu Sans"/>
            </a:endParaRPr>
          </a:p>
          <a:p>
            <a:pPr marL="285750" marR="0" lvl="0" indent="-285750" algn="l" defTabSz="914400" rtl="0" fontAlgn="auto" hangingPunct="1">
              <a:lnSpc>
                <a:spcPct val="100000"/>
              </a:lnSpc>
              <a:spcBef>
                <a:spcPts val="0"/>
              </a:spcBef>
              <a:spcAft>
                <a:spcPts val="0"/>
              </a:spcAft>
              <a:buSzPct val="100000"/>
              <a:buFont typeface="Arial"/>
              <a:buChar char="•"/>
              <a:tabLst/>
              <a:defRPr sz="1800" b="0" i="0" u="none" strike="noStrike" kern="0" cap="none" spc="0" baseline="0">
                <a:solidFill>
                  <a:srgbClr val="000000"/>
                </a:solidFill>
                <a:uFillTx/>
              </a:defRPr>
            </a:pPr>
            <a:r>
              <a:rPr lang="sv-SE" sz="1550" b="1" i="0" u="none" strike="noStrike" kern="1200" cap="none" spc="0" baseline="0">
                <a:solidFill>
                  <a:srgbClr val="58686A"/>
                </a:solidFill>
                <a:uFillTx/>
                <a:latin typeface="Calibri"/>
                <a:ea typeface="Calibri"/>
                <a:cs typeface="Calibri"/>
              </a:rPr>
              <a:t>Konsekvens:</a:t>
            </a:r>
            <a:r>
              <a:rPr lang="sv-SE" sz="1550" b="0" i="0" u="none" strike="noStrike" kern="1200" cap="none" spc="0" baseline="0">
                <a:solidFill>
                  <a:srgbClr val="58686A"/>
                </a:solidFill>
                <a:uFillTx/>
                <a:latin typeface="Calibri"/>
                <a:ea typeface="Calibri"/>
                <a:cs typeface="Calibri"/>
              </a:rPr>
              <a:t> Det valda attackkortet ger ingen attackstyrka i striden. Båda korten slängs efter striden.</a:t>
            </a:r>
            <a:endParaRPr lang="sv-SE" sz="1800" b="0" i="0" u="none" strike="noStrike" kern="1200" cap="none" spc="0" baseline="0">
              <a:solidFill>
                <a:srgbClr val="000000"/>
              </a:solidFill>
              <a:uFillTx/>
              <a:latin typeface="Calibri"/>
              <a:ea typeface="Calibri"/>
              <a:cs typeface="Calibri"/>
            </a:endParaRPr>
          </a:p>
          <a:p>
            <a:pPr marL="0" marR="0" lvl="0" indent="0" algn="l" defTabSz="914400" rtl="0" fontAlgn="auto" hangingPunct="1">
              <a:lnSpc>
                <a:spcPct val="100000"/>
              </a:lnSpc>
              <a:spcBef>
                <a:spcPts val="0"/>
              </a:spcBef>
              <a:spcAft>
                <a:spcPts val="0"/>
              </a:spcAft>
              <a:buNone/>
              <a:tabLst/>
              <a:defRPr sz="1575" b="0" i="0" u="none" strike="noStrike" kern="0" cap="none" spc="0" baseline="0">
                <a:solidFill>
                  <a:srgbClr val="58686A"/>
                </a:solidFill>
                <a:uFillTx/>
                <a:latin typeface="DejaVu Sans"/>
                <a:ea typeface="DejaVu Sans"/>
                <a:cs typeface="DejaVu Sans"/>
              </a:defRPr>
            </a:pPr>
            <a:endParaRPr lang="sv-SE" sz="1550" b="0" i="0" u="none" strike="noStrike" kern="1200" cap="none" spc="0" baseline="0">
              <a:solidFill>
                <a:srgbClr val="58686A"/>
              </a:solidFill>
              <a:uFillTx/>
              <a:latin typeface="DejaVu Sans"/>
              <a:ea typeface="DejaVu Sans"/>
              <a:cs typeface="DejaVu Sans"/>
            </a:endParaRPr>
          </a:p>
        </p:txBody>
      </p:sp>
      <p:sp>
        <p:nvSpPr>
          <p:cNvPr id="12" name="Redigerbar kortmall 6">
            <a:extLst>
              <a:ext uri="{FF2B5EF4-FFF2-40B4-BE49-F238E27FC236}">
                <a16:creationId xmlns:a16="http://schemas.microsoft.com/office/drawing/2014/main" id="{1B1B705B-70AA-1915-0A59-681CC2E3C390}"/>
              </a:ext>
            </a:extLst>
          </p:cNvPr>
          <p:cNvSpPr/>
          <p:nvPr/>
        </p:nvSpPr>
        <p:spPr>
          <a:xfrm>
            <a:off x="8039103" y="4829175"/>
            <a:ext cx="3543299" cy="2895603"/>
          </a:xfrm>
          <a:prstGeom prst="rect">
            <a:avLst/>
          </a:prstGeom>
          <a:solidFill>
            <a:srgbClr val="FFFFFF"/>
          </a:solidFill>
          <a:ln w="14292" cap="flat">
            <a:solidFill>
              <a:srgbClr val="79549E"/>
            </a:solidFill>
            <a:prstDash val="solid"/>
            <a:miter/>
          </a:ln>
        </p:spPr>
        <p:txBody>
          <a:bodyPr vert="horz" wrap="square" lIns="190496" tIns="152403" rIns="190496" bIns="152403" anchor="t" anchorCtr="0" compatLnSpc="1">
            <a:noAutofit/>
          </a:bodyPr>
          <a:lstStyle/>
          <a:p>
            <a:pPr marL="0" marR="0" lvl="0" indent="0" algn="l" defTabSz="914400" rtl="0" fontAlgn="auto" hangingPunct="1">
              <a:lnSpc>
                <a:spcPct val="100000"/>
              </a:lnSpc>
              <a:spcBef>
                <a:spcPts val="0"/>
              </a:spcBef>
              <a:spcAft>
                <a:spcPts val="0"/>
              </a:spcAft>
              <a:buNone/>
              <a:tabLst/>
              <a:defRPr sz="1575" b="0" i="0" u="none" strike="noStrike" kern="0" cap="none" spc="0" baseline="0">
                <a:solidFill>
                  <a:srgbClr val="58686A"/>
                </a:solidFill>
                <a:uFillTx/>
                <a:latin typeface="DejaVu Sans"/>
                <a:ea typeface="DejaVu Sans"/>
                <a:cs typeface="DejaVu Sans"/>
              </a:defRPr>
            </a:pPr>
            <a:r>
              <a:rPr lang="sv-SE" sz="1550" b="0" i="0" u="none" strike="noStrike" kern="1200" cap="none" spc="0" baseline="0">
                <a:solidFill>
                  <a:srgbClr val="58686A"/>
                </a:solidFill>
                <a:uFillTx/>
                <a:latin typeface="DejaVu Sans"/>
                <a:ea typeface="DejaVu Sans"/>
                <a:cs typeface="DejaVu Sans"/>
              </a:rPr>
              <a:t>NAMN </a:t>
            </a:r>
            <a:endParaRPr lang="sv-SE" sz="1575" b="0" i="0" u="none" strike="noStrike" kern="1200" cap="none" spc="0" baseline="0">
              <a:solidFill>
                <a:srgbClr val="58686A"/>
              </a:solidFill>
              <a:uFillTx/>
              <a:latin typeface="DejaVu Sans"/>
              <a:ea typeface="DejaVu Sans"/>
              <a:cs typeface="DejaVu Sans"/>
            </a:endParaRP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sv-SE" sz="1575" b="0" i="0" u="none" strike="noStrike" kern="1200" cap="none" spc="0" baseline="0">
              <a:solidFill>
                <a:srgbClr val="58686A"/>
              </a:solidFill>
              <a:uFillTx/>
              <a:latin typeface="DejaVu Sans"/>
              <a:ea typeface="DejaVu Sans"/>
              <a:cs typeface="DejaVu Sans"/>
            </a:endParaRPr>
          </a:p>
          <a:p>
            <a:pPr marL="0" marR="0" lvl="0" indent="0" algn="l" defTabSz="914400" rtl="0" fontAlgn="auto" hangingPunct="1">
              <a:lnSpc>
                <a:spcPct val="100000"/>
              </a:lnSpc>
              <a:spcBef>
                <a:spcPts val="0"/>
              </a:spcBef>
              <a:spcAft>
                <a:spcPts val="0"/>
              </a:spcAft>
              <a:buNone/>
              <a:tabLst/>
              <a:defRPr sz="1575" b="0" i="0" u="none" strike="noStrike" kern="0" cap="none" spc="0" baseline="0">
                <a:solidFill>
                  <a:srgbClr val="58686A"/>
                </a:solidFill>
                <a:uFillTx/>
                <a:latin typeface="DejaVu Sans"/>
                <a:ea typeface="DejaVu Sans"/>
                <a:cs typeface="DejaVu Sans"/>
              </a:defRPr>
            </a:pPr>
            <a:r>
              <a:rPr lang="sv-SE" sz="1575" b="0" i="0" u="none" strike="noStrike" kern="1200" cap="none" spc="0" baseline="0">
                <a:solidFill>
                  <a:srgbClr val="58686A"/>
                </a:solidFill>
                <a:uFillTx/>
                <a:latin typeface="DejaVu Sans"/>
                <a:ea typeface="DejaVu Sans"/>
                <a:cs typeface="DejaVu Sans"/>
              </a:rPr>
              <a:t>VILLKOR</a:t>
            </a: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sv-SE" sz="1575" b="0" i="0" u="none" strike="noStrike" kern="1200" cap="none" spc="0" baseline="0">
              <a:solidFill>
                <a:srgbClr val="58686A"/>
              </a:solidFill>
              <a:uFillTx/>
              <a:latin typeface="DejaVu Sans"/>
              <a:ea typeface="DejaVu Sans"/>
              <a:cs typeface="DejaVu Sans"/>
            </a:endParaRPr>
          </a:p>
          <a:p>
            <a:pPr marL="0" marR="0" lvl="0" indent="0" algn="l" defTabSz="914400" rtl="0" fontAlgn="auto" hangingPunct="1">
              <a:lnSpc>
                <a:spcPct val="100000"/>
              </a:lnSpc>
              <a:spcBef>
                <a:spcPts val="0"/>
              </a:spcBef>
              <a:spcAft>
                <a:spcPts val="0"/>
              </a:spcAft>
              <a:buNone/>
              <a:tabLst/>
              <a:defRPr sz="1575" b="0" i="0" u="none" strike="noStrike" kern="0" cap="none" spc="0" baseline="0">
                <a:solidFill>
                  <a:srgbClr val="58686A"/>
                </a:solidFill>
                <a:uFillTx/>
                <a:latin typeface="DejaVu Sans"/>
                <a:ea typeface="DejaVu Sans"/>
                <a:cs typeface="DejaVu Sans"/>
              </a:defRPr>
            </a:pPr>
            <a:r>
              <a:rPr lang="sv-SE" sz="1575" b="0" i="0" u="none" strike="noStrike" kern="1200" cap="none" spc="0" baseline="0">
                <a:solidFill>
                  <a:srgbClr val="58686A"/>
                </a:solidFill>
                <a:uFillTx/>
                <a:latin typeface="DejaVu Sans"/>
                <a:ea typeface="DejaVu Sans"/>
                <a:cs typeface="DejaVu Sans"/>
              </a:rPr>
              <a:t>HANDLING</a:t>
            </a: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sv-SE" sz="1575" b="0" i="0" u="none" strike="noStrike" kern="1200" cap="none" spc="0" baseline="0">
              <a:solidFill>
                <a:srgbClr val="58686A"/>
              </a:solidFill>
              <a:uFillTx/>
              <a:latin typeface="DejaVu Sans"/>
              <a:ea typeface="DejaVu Sans"/>
              <a:cs typeface="DejaVu Sans"/>
            </a:endParaRPr>
          </a:p>
          <a:p>
            <a:pPr marL="0" marR="0" lvl="0" indent="0" algn="l" defTabSz="914400" rtl="0" fontAlgn="auto" hangingPunct="1">
              <a:lnSpc>
                <a:spcPct val="100000"/>
              </a:lnSpc>
              <a:spcBef>
                <a:spcPts val="0"/>
              </a:spcBef>
              <a:spcAft>
                <a:spcPts val="0"/>
              </a:spcAft>
              <a:buNone/>
              <a:tabLst/>
              <a:defRPr sz="1575" b="0" i="0" u="none" strike="noStrike" kern="0" cap="none" spc="0" baseline="0">
                <a:solidFill>
                  <a:srgbClr val="58686A"/>
                </a:solidFill>
                <a:uFillTx/>
                <a:latin typeface="DejaVu Sans"/>
                <a:ea typeface="DejaVu Sans"/>
                <a:cs typeface="DejaVu Sans"/>
              </a:defRPr>
            </a:pPr>
            <a:r>
              <a:rPr lang="sv-SE" sz="1575" b="0" i="0" u="none" strike="noStrike" kern="1200" cap="none" spc="0" baseline="0">
                <a:solidFill>
                  <a:srgbClr val="58686A"/>
                </a:solidFill>
                <a:uFillTx/>
                <a:latin typeface="DejaVu Sans"/>
                <a:ea typeface="DejaVu Sans"/>
                <a:cs typeface="DejaVu Sans"/>
              </a:rPr>
              <a:t>KONSEKVENS</a:t>
            </a:r>
          </a:p>
        </p:txBody>
      </p:sp>
      <p:sp>
        <p:nvSpPr>
          <p:cNvPr id="13" name="KORTTYPER&#10;I VÅRT SPEL">
            <a:extLst>
              <a:ext uri="{FF2B5EF4-FFF2-40B4-BE49-F238E27FC236}">
                <a16:creationId xmlns:a16="http://schemas.microsoft.com/office/drawing/2014/main" id="{2180EEF2-8CFB-606F-FAE1-9C05A20FA81D}"/>
              </a:ext>
            </a:extLst>
          </p:cNvPr>
          <p:cNvSpPr/>
          <p:nvPr/>
        </p:nvSpPr>
        <p:spPr>
          <a:xfrm>
            <a:off x="12001500" y="1685925"/>
            <a:ext cx="2781303" cy="838203"/>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75" b="1" i="0" u="none" strike="noStrike" kern="0" cap="none" spc="0" baseline="0">
                <a:solidFill>
                  <a:srgbClr val="79549E"/>
                </a:solidFill>
                <a:uFillTx/>
                <a:latin typeface="DejaVu Sans"/>
                <a:ea typeface="DejaVu Sans"/>
                <a:cs typeface="DejaVu Sans"/>
              </a:defRPr>
            </a:pPr>
            <a:r>
              <a:rPr lang="sv-SE" sz="1875" b="1" i="0" u="none" strike="noStrike" kern="1200" cap="none" spc="0" baseline="0">
                <a:solidFill>
                  <a:srgbClr val="79549E"/>
                </a:solidFill>
                <a:uFillTx/>
                <a:latin typeface="DejaVu Sans"/>
                <a:ea typeface="DejaVu Sans"/>
                <a:cs typeface="DejaVu Sans"/>
              </a:rPr>
              <a:t>KORTTYPER</a:t>
            </a:r>
          </a:p>
          <a:p>
            <a:pPr marL="0" marR="0" lvl="0" indent="0" algn="l" defTabSz="914400" rtl="0" fontAlgn="auto" hangingPunct="1">
              <a:lnSpc>
                <a:spcPct val="100000"/>
              </a:lnSpc>
              <a:spcBef>
                <a:spcPts val="0"/>
              </a:spcBef>
              <a:spcAft>
                <a:spcPts val="0"/>
              </a:spcAft>
              <a:buNone/>
              <a:tabLst/>
              <a:defRPr sz="1875" b="1" i="0" u="none" strike="noStrike" kern="0" cap="none" spc="0" baseline="0">
                <a:solidFill>
                  <a:srgbClr val="79549E"/>
                </a:solidFill>
                <a:uFillTx/>
                <a:latin typeface="DejaVu Sans"/>
                <a:ea typeface="DejaVu Sans"/>
                <a:cs typeface="DejaVu Sans"/>
              </a:defRPr>
            </a:pPr>
            <a:r>
              <a:rPr lang="sv-SE" sz="1875" b="1" i="0" u="none" strike="noStrike" kern="1200" cap="none" spc="0" baseline="0">
                <a:solidFill>
                  <a:srgbClr val="79549E"/>
                </a:solidFill>
                <a:uFillTx/>
                <a:latin typeface="DejaVu Sans"/>
                <a:ea typeface="DejaVu Sans"/>
                <a:cs typeface="DejaVu Sans"/>
              </a:rPr>
              <a:t>I VÅRT SPEL</a:t>
            </a:r>
          </a:p>
        </p:txBody>
      </p:sp>
      <p:sp>
        <p:nvSpPr>
          <p:cNvPr id="14" name="1.">
            <a:extLst>
              <a:ext uri="{FF2B5EF4-FFF2-40B4-BE49-F238E27FC236}">
                <a16:creationId xmlns:a16="http://schemas.microsoft.com/office/drawing/2014/main" id="{A3758C29-317E-2AD4-0CC1-EA267E9E11EA}"/>
              </a:ext>
            </a:extLst>
          </p:cNvPr>
          <p:cNvSpPr/>
          <p:nvPr/>
        </p:nvSpPr>
        <p:spPr>
          <a:xfrm>
            <a:off x="12001500" y="2895603"/>
            <a:ext cx="381003" cy="333371"/>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950" b="1" i="0" u="none" strike="noStrike" kern="0" cap="none" spc="0" baseline="0">
                <a:solidFill>
                  <a:srgbClr val="79549E"/>
                </a:solidFill>
                <a:uFillTx/>
                <a:latin typeface="DejaVu Sans"/>
                <a:ea typeface="DejaVu Sans"/>
                <a:cs typeface="DejaVu Sans"/>
              </a:defRPr>
            </a:pPr>
            <a:r>
              <a:rPr lang="sv-SE" sz="1950" b="1" i="0" u="none" strike="noStrike" kern="1200" cap="none" spc="0" baseline="0">
                <a:solidFill>
                  <a:srgbClr val="79549E"/>
                </a:solidFill>
                <a:uFillTx/>
                <a:latin typeface="DejaVu Sans"/>
                <a:ea typeface="DejaVu Sans"/>
                <a:cs typeface="DejaVu Sans"/>
              </a:rPr>
              <a:t>1.</a:t>
            </a:r>
          </a:p>
        </p:txBody>
      </p:sp>
      <p:sp>
        <p:nvSpPr>
          <p:cNvPr id="15" name="Rectangle 13">
            <a:extLst>
              <a:ext uri="{FF2B5EF4-FFF2-40B4-BE49-F238E27FC236}">
                <a16:creationId xmlns:a16="http://schemas.microsoft.com/office/drawing/2014/main" id="{7DD39BAF-3468-9E25-B09C-5E25ED1D2D2D}"/>
              </a:ext>
            </a:extLst>
          </p:cNvPr>
          <p:cNvSpPr/>
          <p:nvPr/>
        </p:nvSpPr>
        <p:spPr>
          <a:xfrm>
            <a:off x="12458700" y="2890153"/>
            <a:ext cx="2324103" cy="1143000"/>
          </a:xfrm>
          <a:prstGeom prst="rect">
            <a:avLst/>
          </a:prstGeom>
          <a:solidFill>
            <a:srgbClr val="FFFFFF"/>
          </a:solidFill>
          <a:ln w="14292" cap="flat">
            <a:solidFill>
              <a:srgbClr val="CBD2CF"/>
            </a:solidFill>
            <a:prstDash val="solid"/>
            <a:miter/>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950" b="0" i="0" u="none" strike="noStrike" kern="0" cap="none" spc="0" baseline="0">
                <a:solidFill>
                  <a:srgbClr val="192C31"/>
                </a:solidFill>
                <a:uFillTx/>
                <a:latin typeface="DejaVu Sans"/>
                <a:ea typeface="DejaVu Sans"/>
                <a:cs typeface="DejaVu Sans"/>
              </a:defRPr>
            </a:pPr>
            <a:r>
              <a:rPr lang="en-US" sz="1400" b="0" i="0" u="none" strike="noStrike" kern="1200" cap="none" spc="0" baseline="0">
                <a:solidFill>
                  <a:srgbClr val="192C31"/>
                </a:solidFill>
                <a:uFillTx/>
                <a:latin typeface="DejaVu Sans"/>
                <a:ea typeface="DejaVu Sans"/>
                <a:cs typeface="DejaVu Sans"/>
              </a:rPr>
              <a:t> </a:t>
            </a:r>
            <a:r>
              <a:rPr lang="en-US" sz="1400" b="1" i="0" u="none" strike="noStrike" kern="1200" cap="none" spc="0" baseline="0">
                <a:solidFill>
                  <a:srgbClr val="000000"/>
                </a:solidFill>
                <a:uFillTx/>
                <a:latin typeface="DejaVu Sans"/>
                <a:ea typeface="Calibri"/>
                <a:cs typeface="Calibri"/>
              </a:rPr>
              <a:t>Attack</a:t>
            </a:r>
            <a:r>
              <a:rPr lang="en-US" sz="1400" b="0" i="0" u="none" strike="noStrike" kern="1200" cap="none" spc="0" baseline="0">
                <a:solidFill>
                  <a:srgbClr val="000000"/>
                </a:solidFill>
                <a:uFillTx/>
                <a:latin typeface="DejaVu Sans"/>
                <a:ea typeface="Calibri"/>
                <a:cs typeface="Calibri"/>
              </a:rPr>
              <a:t> – används för att anfalla motståndarens borg eller hjälpa en lagkamrat att attackera.</a:t>
            </a:r>
            <a:endParaRPr lang="en-US" sz="1400" b="0" i="0" u="none" strike="noStrike" kern="1200" cap="none" spc="0" baseline="0">
              <a:solidFill>
                <a:srgbClr val="192C31"/>
              </a:solidFill>
              <a:uFillTx/>
              <a:latin typeface="DejaVu Sans"/>
              <a:ea typeface="DejaVu Sans"/>
              <a:cs typeface="DejaVu Sans"/>
            </a:endParaRPr>
          </a:p>
          <a:p>
            <a:pPr marL="0" marR="0" lvl="0" indent="0" algn="l" defTabSz="914400" rtl="0" fontAlgn="auto" hangingPunct="1">
              <a:lnSpc>
                <a:spcPct val="100000"/>
              </a:lnSpc>
              <a:spcBef>
                <a:spcPts val="0"/>
              </a:spcBef>
              <a:spcAft>
                <a:spcPts val="0"/>
              </a:spcAft>
              <a:buNone/>
              <a:tabLst/>
              <a:defRPr sz="1950" b="0" i="0" u="none" strike="noStrike" kern="0" cap="none" spc="0" baseline="0">
                <a:solidFill>
                  <a:srgbClr val="192C31"/>
                </a:solidFill>
                <a:uFillTx/>
                <a:latin typeface="DejaVu Sans"/>
                <a:ea typeface="DejaVu Sans"/>
                <a:cs typeface="DejaVu Sans"/>
              </a:defRPr>
            </a:pPr>
            <a:endParaRPr lang="sv-SE" sz="1950" b="0" i="0" u="none" strike="noStrike" kern="1200" cap="none" spc="0" baseline="0">
              <a:solidFill>
                <a:srgbClr val="192C31"/>
              </a:solidFill>
              <a:uFillTx/>
              <a:latin typeface="DejaVu Sans"/>
              <a:ea typeface="DejaVu Sans"/>
              <a:cs typeface="DejaVu Sans"/>
            </a:endParaRPr>
          </a:p>
        </p:txBody>
      </p:sp>
      <p:sp>
        <p:nvSpPr>
          <p:cNvPr id="16" name="2.">
            <a:extLst>
              <a:ext uri="{FF2B5EF4-FFF2-40B4-BE49-F238E27FC236}">
                <a16:creationId xmlns:a16="http://schemas.microsoft.com/office/drawing/2014/main" id="{D5BEEADE-9B1C-9CA0-8C92-864601F81824}"/>
              </a:ext>
            </a:extLst>
          </p:cNvPr>
          <p:cNvSpPr/>
          <p:nvPr/>
        </p:nvSpPr>
        <p:spPr>
          <a:xfrm>
            <a:off x="12001500" y="4343400"/>
            <a:ext cx="381003" cy="333371"/>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950" b="1" i="0" u="none" strike="noStrike" kern="0" cap="none" spc="0" baseline="0">
                <a:solidFill>
                  <a:srgbClr val="79549E"/>
                </a:solidFill>
                <a:uFillTx/>
                <a:latin typeface="DejaVu Sans"/>
                <a:ea typeface="DejaVu Sans"/>
                <a:cs typeface="DejaVu Sans"/>
              </a:defRPr>
            </a:pPr>
            <a:r>
              <a:rPr lang="sv-SE" sz="1950" b="1" i="0" u="none" strike="noStrike" kern="1200" cap="none" spc="0" baseline="0">
                <a:solidFill>
                  <a:srgbClr val="79549E"/>
                </a:solidFill>
                <a:uFillTx/>
                <a:latin typeface="DejaVu Sans"/>
                <a:ea typeface="DejaVu Sans"/>
                <a:cs typeface="DejaVu Sans"/>
              </a:rPr>
              <a:t>2.</a:t>
            </a:r>
          </a:p>
        </p:txBody>
      </p:sp>
      <p:sp>
        <p:nvSpPr>
          <p:cNvPr id="17" name="Rectangle 15">
            <a:extLst>
              <a:ext uri="{FF2B5EF4-FFF2-40B4-BE49-F238E27FC236}">
                <a16:creationId xmlns:a16="http://schemas.microsoft.com/office/drawing/2014/main" id="{C6044627-10F9-65FB-B16B-9CF00411C569}"/>
              </a:ext>
            </a:extLst>
          </p:cNvPr>
          <p:cNvSpPr/>
          <p:nvPr/>
        </p:nvSpPr>
        <p:spPr>
          <a:xfrm>
            <a:off x="12458700" y="4248146"/>
            <a:ext cx="2324103" cy="1143000"/>
          </a:xfrm>
          <a:prstGeom prst="rect">
            <a:avLst/>
          </a:prstGeom>
          <a:solidFill>
            <a:srgbClr val="FFFFFF"/>
          </a:solidFill>
          <a:ln w="14292" cap="flat">
            <a:solidFill>
              <a:srgbClr val="CBD2CF"/>
            </a:solidFill>
            <a:prstDash val="solid"/>
            <a:miter/>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950" b="0" i="0" u="none" strike="noStrike" kern="0" cap="none" spc="0" baseline="0">
                <a:solidFill>
                  <a:srgbClr val="192C31"/>
                </a:solidFill>
                <a:uFillTx/>
                <a:latin typeface="DejaVu Sans"/>
                <a:ea typeface="DejaVu Sans"/>
                <a:cs typeface="DejaVu Sans"/>
              </a:defRPr>
            </a:pPr>
            <a:r>
              <a:rPr lang="en-US" sz="1400" b="0" i="0" u="none" strike="noStrike" kern="1200" cap="none" spc="0" baseline="0">
                <a:solidFill>
                  <a:srgbClr val="192C31"/>
                </a:solidFill>
                <a:uFillTx/>
                <a:latin typeface="DejaVu Sans"/>
                <a:ea typeface="DejaVu Sans"/>
                <a:cs typeface="DejaVu Sans"/>
              </a:rPr>
              <a:t> </a:t>
            </a:r>
            <a:r>
              <a:rPr lang="en-US" sz="1400" b="1" i="0" u="none" strike="noStrike" kern="1200" cap="none" spc="0" baseline="0">
                <a:solidFill>
                  <a:srgbClr val="192C31"/>
                </a:solidFill>
                <a:uFillTx/>
                <a:latin typeface="DejaVu Sans"/>
                <a:ea typeface="Calibri"/>
                <a:cs typeface="Calibri"/>
              </a:rPr>
              <a:t>Försvar</a:t>
            </a:r>
            <a:r>
              <a:rPr lang="en-US" sz="1400" b="0" i="0" u="none" strike="noStrike" kern="1200" cap="none" spc="0" baseline="0">
                <a:solidFill>
                  <a:srgbClr val="192C31"/>
                </a:solidFill>
                <a:uFillTx/>
                <a:latin typeface="DejaVu Sans"/>
                <a:ea typeface="Calibri"/>
                <a:cs typeface="Calibri"/>
              </a:rPr>
              <a:t> – används för att stoppa attacker mot dig eller hjälpa en lagkamrat att försvara sig.</a:t>
            </a:r>
            <a:endParaRPr lang="sv-SE" sz="1400" b="0" i="0" u="none" strike="noStrike" kern="1200" cap="none" spc="0" baseline="0">
              <a:solidFill>
                <a:srgbClr val="192C31"/>
              </a:solidFill>
              <a:uFillTx/>
              <a:latin typeface="DejaVu Sans"/>
              <a:ea typeface="DejaVu Sans"/>
              <a:cs typeface="DejaVu Sans"/>
            </a:endParaRPr>
          </a:p>
          <a:p>
            <a:pPr marL="285750" marR="0" lvl="0" indent="-285750" algn="l" defTabSz="914400" rtl="0" fontAlgn="auto" hangingPunct="1">
              <a:lnSpc>
                <a:spcPct val="100000"/>
              </a:lnSpc>
              <a:spcBef>
                <a:spcPts val="0"/>
              </a:spcBef>
              <a:spcAft>
                <a:spcPts val="0"/>
              </a:spcAft>
              <a:buSzPct val="100000"/>
              <a:buFont typeface="Arial"/>
              <a:buChar char="•"/>
              <a:tabLst/>
              <a:defRPr sz="1950" b="0" i="0" u="none" strike="noStrike" kern="0" cap="none" spc="0" baseline="0">
                <a:solidFill>
                  <a:srgbClr val="192C31"/>
                </a:solidFill>
                <a:uFillTx/>
                <a:latin typeface="DejaVu Sans"/>
                <a:ea typeface="DejaVu Sans"/>
                <a:cs typeface="DejaVu Sans"/>
              </a:defRPr>
            </a:pPr>
            <a:endParaRPr lang="sv-SE" sz="1950" b="0" i="0" u="none" strike="noStrike" kern="1200" cap="none" spc="0" baseline="0">
              <a:solidFill>
                <a:srgbClr val="192C31"/>
              </a:solidFill>
              <a:uFillTx/>
              <a:latin typeface="DejaVu Sans"/>
              <a:ea typeface="DejaVu Sans"/>
              <a:cs typeface="DejaVu Sans"/>
            </a:endParaRPr>
          </a:p>
          <a:p>
            <a:pPr marL="0" marR="0" lvl="0" indent="0" algn="l" defTabSz="914400" rtl="0" fontAlgn="auto" hangingPunct="1">
              <a:lnSpc>
                <a:spcPct val="100000"/>
              </a:lnSpc>
              <a:spcBef>
                <a:spcPts val="0"/>
              </a:spcBef>
              <a:spcAft>
                <a:spcPts val="0"/>
              </a:spcAft>
              <a:buNone/>
              <a:tabLst/>
              <a:defRPr sz="1950" b="0" i="0" u="none" strike="noStrike" kern="0" cap="none" spc="0" baseline="0">
                <a:solidFill>
                  <a:srgbClr val="192C31"/>
                </a:solidFill>
                <a:uFillTx/>
                <a:latin typeface="DejaVu Sans"/>
                <a:ea typeface="DejaVu Sans"/>
                <a:cs typeface="DejaVu Sans"/>
              </a:defRPr>
            </a:pPr>
            <a:endParaRPr lang="en-US" sz="1400" b="0" i="0" u="none" strike="noStrike" kern="1200" cap="none" spc="0" baseline="0">
              <a:solidFill>
                <a:srgbClr val="192C31"/>
              </a:solidFill>
              <a:uFillTx/>
              <a:latin typeface="DejaVu Sans"/>
              <a:ea typeface="DejaVu Sans"/>
              <a:cs typeface="DejaVu Sans"/>
            </a:endParaRPr>
          </a:p>
        </p:txBody>
      </p:sp>
      <p:sp>
        <p:nvSpPr>
          <p:cNvPr id="18" name="3.">
            <a:extLst>
              <a:ext uri="{FF2B5EF4-FFF2-40B4-BE49-F238E27FC236}">
                <a16:creationId xmlns:a16="http://schemas.microsoft.com/office/drawing/2014/main" id="{B1E78998-A81D-6538-D4F3-677743A725EA}"/>
              </a:ext>
            </a:extLst>
          </p:cNvPr>
          <p:cNvSpPr/>
          <p:nvPr/>
        </p:nvSpPr>
        <p:spPr>
          <a:xfrm>
            <a:off x="12001500" y="5791196"/>
            <a:ext cx="381003" cy="333371"/>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950" b="1" i="0" u="none" strike="noStrike" kern="0" cap="none" spc="0" baseline="0">
                <a:solidFill>
                  <a:srgbClr val="79549E"/>
                </a:solidFill>
                <a:uFillTx/>
                <a:latin typeface="DejaVu Sans"/>
                <a:ea typeface="DejaVu Sans"/>
                <a:cs typeface="DejaVu Sans"/>
              </a:defRPr>
            </a:pPr>
            <a:r>
              <a:rPr lang="sv-SE" sz="1950" b="1" i="0" u="none" strike="noStrike" kern="1200" cap="none" spc="0" baseline="0">
                <a:solidFill>
                  <a:srgbClr val="79549E"/>
                </a:solidFill>
                <a:uFillTx/>
                <a:latin typeface="DejaVu Sans"/>
                <a:ea typeface="DejaVu Sans"/>
                <a:cs typeface="DejaVu Sans"/>
              </a:rPr>
              <a:t>3.</a:t>
            </a:r>
          </a:p>
        </p:txBody>
      </p:sp>
      <p:sp>
        <p:nvSpPr>
          <p:cNvPr id="19" name="Rectangle 17">
            <a:extLst>
              <a:ext uri="{FF2B5EF4-FFF2-40B4-BE49-F238E27FC236}">
                <a16:creationId xmlns:a16="http://schemas.microsoft.com/office/drawing/2014/main" id="{14EB4630-597A-7841-7A1A-8188153D31A6}"/>
              </a:ext>
            </a:extLst>
          </p:cNvPr>
          <p:cNvSpPr/>
          <p:nvPr/>
        </p:nvSpPr>
        <p:spPr>
          <a:xfrm>
            <a:off x="12458700" y="5695953"/>
            <a:ext cx="2324103" cy="1143000"/>
          </a:xfrm>
          <a:prstGeom prst="rect">
            <a:avLst/>
          </a:prstGeom>
          <a:solidFill>
            <a:srgbClr val="FFFFFF"/>
          </a:solidFill>
          <a:ln w="14292" cap="flat">
            <a:solidFill>
              <a:srgbClr val="CBD2CF"/>
            </a:solidFill>
            <a:prstDash val="solid"/>
            <a:miter/>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950" b="0" i="0" u="none" strike="noStrike" kern="0" cap="none" spc="0" baseline="0">
                <a:solidFill>
                  <a:srgbClr val="192C31"/>
                </a:solidFill>
                <a:uFillTx/>
                <a:latin typeface="DejaVu Sans"/>
                <a:ea typeface="DejaVu Sans"/>
                <a:cs typeface="DejaVu Sans"/>
              </a:defRPr>
            </a:pPr>
            <a:r>
              <a:rPr lang="sv-SE" sz="1400" b="1" i="0" u="none" strike="noStrike" kern="1200" cap="none" spc="0" baseline="0">
                <a:solidFill>
                  <a:srgbClr val="000000"/>
                </a:solidFill>
                <a:uFillTx/>
                <a:latin typeface="DejaVu Sans"/>
                <a:ea typeface="Calibri"/>
                <a:cs typeface="Calibri"/>
              </a:rPr>
              <a:t>Magi / trumf</a:t>
            </a:r>
            <a:r>
              <a:rPr lang="sv-SE" sz="1400" b="0" i="0" u="none" strike="noStrike" kern="1200" cap="none" spc="0" baseline="0">
                <a:solidFill>
                  <a:srgbClr val="000000"/>
                </a:solidFill>
                <a:uFillTx/>
                <a:latin typeface="DejaVu Sans"/>
                <a:ea typeface="Calibri"/>
                <a:cs typeface="Calibri"/>
              </a:rPr>
              <a:t> – har specialeffekter som kan förändra striden, till exempel förstärka ett försvar eller stoppa ett attackkort.</a:t>
            </a:r>
            <a:endParaRPr lang="sv-SE" sz="1400" b="0" i="0" u="none" strike="noStrike" kern="1200" cap="none" spc="0" baseline="0">
              <a:solidFill>
                <a:srgbClr val="192C31"/>
              </a:solidFill>
              <a:uFillTx/>
              <a:latin typeface="DejaVu Sans"/>
              <a:ea typeface="DejaVu Sans"/>
              <a:cs typeface="DejaVu Sans"/>
            </a:endParaRPr>
          </a:p>
          <a:p>
            <a:pPr marL="0" marR="0" lvl="0" indent="0" algn="l" defTabSz="914400" rtl="0" fontAlgn="auto" hangingPunct="1">
              <a:lnSpc>
                <a:spcPct val="100000"/>
              </a:lnSpc>
              <a:spcBef>
                <a:spcPts val="0"/>
              </a:spcBef>
              <a:spcAft>
                <a:spcPts val="0"/>
              </a:spcAft>
              <a:buNone/>
              <a:tabLst/>
              <a:defRPr sz="1950" b="0" i="0" u="none" strike="noStrike" kern="0" cap="none" spc="0" baseline="0">
                <a:solidFill>
                  <a:srgbClr val="192C31"/>
                </a:solidFill>
                <a:uFillTx/>
                <a:latin typeface="DejaVu Sans"/>
                <a:ea typeface="DejaVu Sans"/>
                <a:cs typeface="DejaVu Sans"/>
              </a:defRPr>
            </a:pPr>
            <a:endParaRPr lang="sv-SE" sz="1950" b="0" i="0" u="none" strike="noStrike" kern="1200" cap="none" spc="0" baseline="0">
              <a:solidFill>
                <a:srgbClr val="192C31"/>
              </a:solidFill>
              <a:uFillTx/>
              <a:latin typeface="DejaVu Sans"/>
              <a:ea typeface="DejaVu Sans"/>
              <a:cs typeface="DejaVu Sans"/>
            </a:endParaRPr>
          </a:p>
        </p:txBody>
      </p:sp>
    </p:spTree>
  </p:cSld>
  <p:clrMapOvr>
    <a:masterClrMapping/>
  </p:clrMapOvr>
</p:sld>
</file>

<file path=ppt/theme/theme1.xml><?xml version="1.0" encoding="utf-8"?>
<a:theme xmlns:a="http://schemas.openxmlformats.org/drawingml/2006/main" name="ChatGPT">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651</Words>
  <Application>Microsoft Macintosh PowerPoint</Application>
  <PresentationFormat>Bredbild</PresentationFormat>
  <Paragraphs>106</Paragraphs>
  <Slides>3</Slides>
  <Notes>3</Notes>
  <HiddenSlides>0</HiddenSlides>
  <MMClips>0</MMClips>
  <ScaleCrop>false</ScaleCrop>
  <HeadingPairs>
    <vt:vector size="6" baseType="variant">
      <vt:variant>
        <vt:lpstr>Använt teckensnitt</vt:lpstr>
      </vt:variant>
      <vt:variant>
        <vt:i4>4</vt:i4>
      </vt:variant>
      <vt:variant>
        <vt:lpstr>Tema</vt:lpstr>
      </vt:variant>
      <vt:variant>
        <vt:i4>1</vt:i4>
      </vt:variant>
      <vt:variant>
        <vt:lpstr>Bildrubriker</vt:lpstr>
      </vt:variant>
      <vt:variant>
        <vt:i4>3</vt:i4>
      </vt:variant>
    </vt:vector>
  </HeadingPairs>
  <TitlesOfParts>
    <vt:vector size="8" baseType="lpstr">
      <vt:lpstr>-webkit-standard</vt:lpstr>
      <vt:lpstr>Arial</vt:lpstr>
      <vt:lpstr>Calibri</vt:lpstr>
      <vt:lpstr>DejaVu Sans</vt:lpstr>
      <vt:lpstr>ChatGPT</vt:lpstr>
      <vt:lpstr>PowerPoint-presentation</vt:lpstr>
      <vt:lpstr>PowerPoint-presentation</vt:lpstr>
      <vt:lpstr>PowerPoint-presentation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Aleksei Landychev</cp:lastModifiedBy>
  <cp:revision>5</cp:revision>
  <dcterms:created xsi:type="dcterms:W3CDTF">2026-10-07T13:32:53Z</dcterms:created>
  <dcterms:modified xsi:type="dcterms:W3CDTF">2026-10-07T17:24:15Z</dcterms:modified>
</cp:coreProperties>
</file>